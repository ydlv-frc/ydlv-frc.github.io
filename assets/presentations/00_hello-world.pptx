
<file path=[Content_Types].xml><?xml version="1.0" encoding="utf-8"?>
<Types xmlns="http://schemas.openxmlformats.org/package/2006/content-types">
  <Default Extension="asf" ContentType="video/x-ms-as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7" r:id="rId1"/>
  </p:sldMasterIdLst>
  <p:notesMasterIdLst>
    <p:notesMasterId r:id="rId44"/>
  </p:notesMasterIdLst>
  <p:sldIdLst>
    <p:sldId id="256" r:id="rId2"/>
    <p:sldId id="324" r:id="rId3"/>
    <p:sldId id="321" r:id="rId4"/>
    <p:sldId id="331" r:id="rId5"/>
    <p:sldId id="323" r:id="rId6"/>
    <p:sldId id="269" r:id="rId7"/>
    <p:sldId id="280" r:id="rId8"/>
    <p:sldId id="298" r:id="rId9"/>
    <p:sldId id="299" r:id="rId10"/>
    <p:sldId id="289" r:id="rId11"/>
    <p:sldId id="290" r:id="rId12"/>
    <p:sldId id="270" r:id="rId13"/>
    <p:sldId id="279" r:id="rId14"/>
    <p:sldId id="291" r:id="rId15"/>
    <p:sldId id="281" r:id="rId16"/>
    <p:sldId id="292" r:id="rId17"/>
    <p:sldId id="293" r:id="rId18"/>
    <p:sldId id="294" r:id="rId19"/>
    <p:sldId id="295" r:id="rId20"/>
    <p:sldId id="296" r:id="rId21"/>
    <p:sldId id="297" r:id="rId22"/>
    <p:sldId id="271" r:id="rId23"/>
    <p:sldId id="272" r:id="rId24"/>
    <p:sldId id="326" r:id="rId25"/>
    <p:sldId id="283" r:id="rId26"/>
    <p:sldId id="284" r:id="rId27"/>
    <p:sldId id="273" r:id="rId28"/>
    <p:sldId id="300" r:id="rId29"/>
    <p:sldId id="301" r:id="rId30"/>
    <p:sldId id="302" r:id="rId31"/>
    <p:sldId id="277" r:id="rId32"/>
    <p:sldId id="276" r:id="rId33"/>
    <p:sldId id="303" r:id="rId34"/>
    <p:sldId id="285" r:id="rId35"/>
    <p:sldId id="286" r:id="rId36"/>
    <p:sldId id="287" r:id="rId37"/>
    <p:sldId id="305" r:id="rId38"/>
    <p:sldId id="306" r:id="rId39"/>
    <p:sldId id="307" r:id="rId40"/>
    <p:sldId id="308" r:id="rId41"/>
    <p:sldId id="288" r:id="rId42"/>
    <p:sldId id="309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מקטע ברירת מחדל" id="{4C074E49-4A7C-4294-81F5-417953D7144A}">
          <p14:sldIdLst>
            <p14:sldId id="256"/>
          </p14:sldIdLst>
        </p14:section>
        <p14:section name="לפני שנכנסים לג'אווה" id="{75F98FC2-8A33-466E-9D43-194878F61FCA}">
          <p14:sldIdLst/>
        </p14:section>
        <p14:section name="שלום עולם" id="{488E0B5C-BFBB-4ECF-ADA8-E766A3248C8C}">
          <p14:sldIdLst>
            <p14:sldId id="324"/>
            <p14:sldId id="321"/>
            <p14:sldId id="331"/>
            <p14:sldId id="323"/>
            <p14:sldId id="269"/>
            <p14:sldId id="280"/>
            <p14:sldId id="298"/>
            <p14:sldId id="299"/>
            <p14:sldId id="289"/>
            <p14:sldId id="290"/>
          </p14:sldIdLst>
        </p14:section>
        <p14:section name="משתנים" id="{41218CB5-5BCE-49B6-9F11-A669D4588DFF}">
          <p14:sldIdLst>
            <p14:sldId id="270"/>
            <p14:sldId id="279"/>
            <p14:sldId id="291"/>
            <p14:sldId id="281"/>
            <p14:sldId id="292"/>
            <p14:sldId id="293"/>
            <p14:sldId id="294"/>
            <p14:sldId id="295"/>
            <p14:sldId id="296"/>
            <p14:sldId id="297"/>
            <p14:sldId id="271"/>
            <p14:sldId id="272"/>
            <p14:sldId id="326"/>
            <p14:sldId id="283"/>
            <p14:sldId id="284"/>
            <p14:sldId id="273"/>
            <p14:sldId id="300"/>
            <p14:sldId id="301"/>
            <p14:sldId id="302"/>
            <p14:sldId id="277"/>
            <p14:sldId id="276"/>
            <p14:sldId id="303"/>
            <p14:sldId id="285"/>
            <p14:sldId id="286"/>
            <p14:sldId id="287"/>
          </p14:sldIdLst>
        </p14:section>
        <p14:section name="קלט" id="{4C341B21-6045-425D-A53B-45C38FEE05B7}">
          <p14:sldIdLst>
            <p14:sldId id="305"/>
            <p14:sldId id="306"/>
            <p14:sldId id="307"/>
            <p14:sldId id="308"/>
            <p14:sldId id="288"/>
            <p14:sldId id="30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452" autoAdjust="0"/>
    <p:restoredTop sz="94920" autoAdjust="0"/>
  </p:normalViewPr>
  <p:slideViewPr>
    <p:cSldViewPr snapToGrid="0">
      <p:cViewPr varScale="1">
        <p:scale>
          <a:sx n="72" d="100"/>
          <a:sy n="72" d="100"/>
        </p:scale>
        <p:origin x="94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9T14:00:36.0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13129,'0'5'-280,"0"-3"280,0 1-528,0-1-484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3-08-22T14:08:21.55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24924 10513 0,'35'0'16,"-17"0"15,-1 0 16,19 0-16,-1-18-15,18 18 0,-18 0-1,0-18 1,1 1 0,52 17-1,-18 0 16,1 0-15,-53 0 0,-1 0-1,18 0 1,1 0 15,-19 0-15,1 17 62,-18 36-62,18 0-1,-18-17 16,0 17 1,0 52-17,-36-52 1,36-35 15,-35 17-15,-53-35-1,17 18 1,18-18 0,18 0 15,0 0-15,0 0-16,-107-18 31,72 1 0,52-1 32,18-70-17,0 0-14,0 17-1,0-88 0,0 36 0,0 105 1,0 0-17,18-34 1,35 52 15,35-18-15,-70 18-16,35 0 15,17 0 1,1 0 0,-54 0-1,54 0 17,-18 18-17,-53-1 16,17-17-15,-17 18 0,-35 17 62,-71 0-63,-35-17 1,71 17 0,34 1-1,1-36 1,35 17 0,-35 18-1,17-17 16,36-18 16,105 0-31,142 53 0,-89-18-1,-140-35 1,-19 0-1,18 0 48,-17 0-32,0 0-31,-54 36 47,-16-19-31,-1-17-1,-18 0 1,-35 18 0,53-18-1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3-08-22T14:08:25.36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6244 12435 0,'18'0'172,"141"0"-157,-71 0-15,-71 0 16,19 0 15,17-17 0,-1 17-15,-16 0 0,-19 0-1,1-36 63,-124 54 16,71 0-63,-18-1-15,-18-17 0,-34 0-1,87 0 1,0 0 0,1-17 15,-1 17-16,18 17 95,0 1-95,0 35 1,18-53 0,35 35-1,17-17 1,71 0 0,-35-1-1,-71-17 1,-17 0-1,0 0 1,-1 0 0,36 0-1,-88 53 110,-89-35-109,-17-18 0,53 35-1,18-35 1,-36 0-1,0 0 1,18 0 0,17 18-16,89 35 109,141-1-93,-89-16-1,1-36 1,-18 17 0,-36 1-1,36 0 16,-18-18 16,18 17-31,-70 1 78,-19-18-79,-16 0 1,-1 0 0,17 0-16,19 0 15,-1-18 1,-17 18-1,-18-35 17,18 17-17,17-17 1,18 17 0,35-34 30,18 52-30,0-53 0,0 0-1,-35 35 1,17-52 0,-35 52-1,70-17 16,-52 17-15,17 18 0,36 0 15,-53-18-15,-1 18 15,1 0-16,35 53 1,-53 0 0,0-18-1,0-17 1,0 17 15,-36-17-15,19 0 15,-1-18-15,1 0-16,-36 0 31,35 0-15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3-08-29T14:51:12.403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12912 9207 0,'17'0'31,"1"0"-16,88 0 17,-53 0-17,17 0-15,18 0 16,106 36 0,-35-19-1,-88-17 1,-36 0-16,36 0 31,-54 0-15,-52 0 93,-230 0-78,177 0-31,-18 0 16,-70-53 0,70 36-16,53-1 15,36 1 1,-19 17-16,19-18 15,-54 18 1,18-18 0,18 1-1,123 34 110,18 71-125,-53-35 0,17 18 16,1 0 0,-53-71-1,-1 0 32,19 52 16,-36-34-48,17 17 1,-34 18-1,-213 35 1,-105 1 15,247-72-15,123-70 78,0 53-63,18 0 0,36 0 0,140 0 1,-194 0-17,18 0 17,-18 0-1,1 0-16,-19 0-15,1 18 16,0-18 0,-1 0-1,1 0 48,17 18-48,-17-18 79,-1 0-47,1 0-31,17 0-1,36 0 32,-54-18-16,1 18-15,0 0 0,-1-18 15,1 1 0,0-36 47,-18-18-62,0 1 46,-36 52-15,-17 18 0,18-18-31,18 18-1,-1 0 1,0 0 15,-35 0-15,36 0 0,-1 0-1,0 0 1,-17-17 15,18 17 32,-1 0-48,-70 0 32,70 0-16,-105 0 16,52 0-31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3-08-29T14:51:17.605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4039 13494 0,'36'0'62,"34"17"-30,-35 19-17,-17-36-15,35 0 16,35 0-1,106-36 17,-123 1-1,-18 35 16,-36 0-16,36 0 0,-35 0-15,17 0 15,-17 0-15,35 0 15,-36 0 0,1 0-15,-18 53 125,0 18-126,0 52 1,0-88-1,-35-35 48,-1 0-47,-69 0-1,16 0 1,72 0-1,-19-17 64,1-1-48,-124 0 16,107 18-16,34 0 94,0 0-109,1 0-16,-1 0 15,-17 0 1,-18 53-16,53-35 31,0 53 203,-36-36-218,72 35 0,-1-70 15,18 36-15,-35-19-1,-1 1 1,19-18-1,-19 0 1,36 0 0,-35 0-1,17 0 63,-17 0-62,-1 0 15,36 0 1,-35 0-17,-1 0 48,19 0-48,-19 0 17,1 0-1,17-18-16,1 1 1,-19 17-16,36 0 31,-53-18 47,18 0-31,-18 1-31,0-1 15,0-70-15,0 35-16,0 35 15,0-123 1,0 0 31,0 106-31,0 0 15,0 17-16,-18 0 1,-17 18 15,0-35-15,-36 17 15,-17 18-15,35 0-1,0 0 17,35 0 15,-52 0 62,35 0-93,17 0 62,0 0-16,-35-17-46,18 17-1,17 0 32,-70 0 0,0 0-31,35 0-1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29T12:27:46.4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 24575,'2'0'0,"-1"1"0,1-1 0,-1 1 0,1-1 0,-1 1 0,0 0 0,1-1 0,-1 1 0,0 0 0,0 0 0,0 0 0,0 0 0,0 0 0,0 0 0,0 0 0,0 1 0,0-1 0,0 0 0,1 3 0,13 27 0,-6-2 0,-6-17 0,1 0 0,0-1 0,1 1 0,0-1 0,0 0 0,2-1 0,-1 1 0,10 10 0,-15-19 0,0-1 0,0 0 0,1 1 0,-1-1 0,1 0 0,-1 0 0,1 0 0,0 0 0,-1 0 0,1 0 0,0-1 0,0 1 0,-1 0 0,1-1 0,0 1 0,0-1 0,0 0 0,0 0 0,0 0 0,0 0 0,-1 0 0,1 0 0,0 0 0,0-1 0,0 1 0,0 0 0,0-1 0,-1 0 0,1 1 0,0-1 0,-1 0 0,1 0 0,1-1 0,5-4 0,0-1 0,-1 1 0,0-1 0,0-1 0,7-9 0,4-5 0,-16 19 0,1 1 0,-1-1 0,1 1 0,0 0 0,0 0 0,0 0 0,-1 0 0,2 1 0,-1-1 0,0 1 0,0 0 0,0-1 0,1 2 0,-1-1 0,0 0 0,1 1 0,5-1 0,-1 2 0,0 0 0,-1 1 0,1-1 0,0 2 0,13 4 0,18 6 0,-36-12 0,0-1 0,-1 1 0,1-1 0,0 1 0,0-1 0,-1 0 0,1 0 0,0 0 0,0-1 0,-1 1 0,1-1 0,0 1 0,-1-1 0,1 0 0,-1 0 0,5-2 0,-2-1 0,0 0 0,0 0 0,-1 0 0,0 0 0,7-9 0,-7 8 0,0 0 0,1 0 0,-1 0 0,1 1 0,1-1 0,5-3 0,-7 7 0,1-1 0,-1 1 0,1 0 0,0 1 0,-1-1 0,1 1 0,0-1 0,-1 2 0,1-1 0,0 0 0,-1 1 0,1 0 0,0 0 0,-1 0 0,1 1 0,5 2 0,17 3 0,-12-4 0,1-2 0,-1 0 0,0 0 0,1-2 0,-1 0 0,0 0 0,1-2 0,-1 0 0,0 0 0,17-8 0,-23 9 0,0 0 0,-1 1 0,1 0 0,0 0 0,-1 1 0,1 0 0,0 0 0,17 4 0,2 2 0,39 15 0,-40-12 0,38 9 0,-6-10 0,-1-2 0,1-3 0,0-2 0,-1-3 0,94-15 0,-100 10 0,1 3 0,0 3 0,0 1 0,0 3 0,58 11 0,-77-8 0,-1 2 0,1 1 0,44 19 0,-49-17 0,1-1 0,1-1 0,53 7 0,-66-14 0,0 0 0,1-1 0,-1-1 0,1-1 0,-1-1 0,0 0 0,31-9 0,16-18 0,-57 24 0,1 0 0,-1 0 0,1 1 0,0 1 0,1-1 0,-1 1 0,0 1 0,1 0 0,0 0 0,17 0 0,-22 3 0,0 1 0,0 0 0,0 0 0,0 0 0,0 0 0,0 1 0,-1 0 0,1 0 0,-1 0 0,0 1 0,0 0 0,0-1 0,-1 1 0,1 0 0,-1 1 0,5 7 0,-3-6 0,88 135 0,-66-96 0,50 64 0,-71-101 0,1-1 0,-1 0 0,2 0 0,9 7 0,-15-13 0,-1 0 0,0 0 0,0 0 0,0 0 0,1-1 0,-1 1 0,0 0 0,1-1 0,-1 1 0,1-1 0,-1 1 0,1-1 0,-1 0 0,1 0 0,-1 1 0,1-1 0,-1 0 0,1 0 0,-1-1 0,1 1 0,-1 0 0,1 0 0,-1-1 0,0 1 0,1-1 0,-1 1 0,1-1 0,-1 0 0,0 1 0,1-1 0,-1 0 0,0 0 0,0 0 0,0 0 0,2-2 0,3-6 0,0 0 0,-1 0 0,8-17 0,-11 19 0,1 0 0,1 1 0,-1-1 0,1 0 0,0 1 0,1 0 0,0 0 0,0 0 0,8-7 0,-8 9 0,0 0 0,1 1 0,-1 0 0,1 0 0,-1 0 0,1 1 0,0 0 0,0 0 0,0 0 0,0 1 0,1 0 0,-1 0 0,11 0 0,1 2 0,0 1 0,-1 0 0,25 8 0,-31-7 0,1 0 0,-1 0 0,1-1 0,-1 0 0,1-1 0,0-1 0,-1 0 0,1 0 0,0-1 0,-1-1 0,21-4 0,-16-2 0,0 0 0,0-1 0,-1 0 0,0-2 0,-1 0 0,0 0 0,-1-1 0,23-26 0,84-121 0,-119 157 0,15-22 0,23-31 0,-36 50 0,1 2 0,-1-1 0,1 0 0,0 1 0,0 0 0,0 0 0,1 0 0,-1 0 0,1 1 0,5-3 0,-6 4 0,-1 1 0,1 0 0,-1 0 0,1 0 0,-1 0 0,1 0 0,-1 1 0,1-1 0,-1 1 0,1 0 0,-1 0 0,0 0 0,1 1 0,5 2 0,22 7 0,-23-10-151,1 0-1,0-1 0,0 0 0,0-1 1,0 0-1,0-1 0,0 1 1,16-7-1,1-1-6674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8C1FC028-019A-42E5-9A82-43946C4DBC0B}" type="datetimeFigureOut">
              <a:rPr lang="he-IL" smtClean="0"/>
              <a:t>תשפ"ד-טבת-ב'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DDE961AB-0AFC-4913-8268-7313B6F01B1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54037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468EF-E30D-4289-806F-F7F66AE6A55D}" type="datetimeFigureOut">
              <a:rPr lang="he-IL" smtClean="0"/>
              <a:t>תשפ"ד-טבת-ב'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84574-485E-466C-9A19-018ABB68116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26718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468EF-E30D-4289-806F-F7F66AE6A55D}" type="datetimeFigureOut">
              <a:rPr lang="he-IL" smtClean="0"/>
              <a:t>תשפ"ד-טבת-ב'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84574-485E-466C-9A19-018ABB68116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93944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468EF-E30D-4289-806F-F7F66AE6A55D}" type="datetimeFigureOut">
              <a:rPr lang="he-IL" smtClean="0"/>
              <a:t>תשפ"ד-טבת-ב'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84574-485E-466C-9A19-018ABB68116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55920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468EF-E30D-4289-806F-F7F66AE6A55D}" type="datetimeFigureOut">
              <a:rPr lang="he-IL" smtClean="0"/>
              <a:t>תשפ"ד-טבת-ב'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84574-485E-466C-9A19-018ABB68116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73829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468EF-E30D-4289-806F-F7F66AE6A55D}" type="datetimeFigureOut">
              <a:rPr lang="he-IL" smtClean="0"/>
              <a:t>תשפ"ד-טבת-ב'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84574-485E-466C-9A19-018ABB68116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8311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468EF-E30D-4289-806F-F7F66AE6A55D}" type="datetimeFigureOut">
              <a:rPr lang="he-IL" smtClean="0"/>
              <a:t>תשפ"ד-טבת-ב'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84574-485E-466C-9A19-018ABB68116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26291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468EF-E30D-4289-806F-F7F66AE6A55D}" type="datetimeFigureOut">
              <a:rPr lang="he-IL" smtClean="0"/>
              <a:t>תשפ"ד-טבת-ב'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84574-485E-466C-9A19-018ABB68116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75860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468EF-E30D-4289-806F-F7F66AE6A55D}" type="datetimeFigureOut">
              <a:rPr lang="he-IL" smtClean="0"/>
              <a:t>תשפ"ד-טבת-ב'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84574-485E-466C-9A19-018ABB68116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95148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468EF-E30D-4289-806F-F7F66AE6A55D}" type="datetimeFigureOut">
              <a:rPr lang="he-IL" smtClean="0"/>
              <a:t>תשפ"ד-טבת-ב'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84574-485E-466C-9A19-018ABB68116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903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468EF-E30D-4289-806F-F7F66AE6A55D}" type="datetimeFigureOut">
              <a:rPr lang="he-IL" smtClean="0"/>
              <a:t>תשפ"ד-טבת-ב'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84574-485E-466C-9A19-018ABB68116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88222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468EF-E30D-4289-806F-F7F66AE6A55D}" type="datetimeFigureOut">
              <a:rPr lang="he-IL" smtClean="0"/>
              <a:t>תשפ"ד-טבת-ב'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84574-485E-466C-9A19-018ABB68116B}" type="slidenum">
              <a:rPr lang="he-IL" smtClean="0"/>
              <a:t>‹#›</a:t>
            </a:fld>
            <a:endParaRPr lang="he-I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043362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468EF-E30D-4289-806F-F7F66AE6A55D}" type="datetimeFigureOut">
              <a:rPr lang="he-IL" smtClean="0"/>
              <a:t>תשפ"ד-טבת-ב'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84574-485E-466C-9A19-018ABB68116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127896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 עם ציטו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468EF-E30D-4289-806F-F7F66AE6A55D}" type="datetimeFigureOut">
              <a:rPr lang="he-IL" smtClean="0"/>
              <a:t>תשפ"ד-טבת-ב'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84574-485E-466C-9A19-018ABB68116B}" type="slidenum">
              <a:rPr lang="he-IL" smtClean="0"/>
              <a:t>‹#›</a:t>
            </a:fld>
            <a:endParaRPr lang="he-I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468912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נכון או לא נכו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468EF-E30D-4289-806F-F7F66AE6A55D}" type="datetimeFigureOut">
              <a:rPr lang="he-IL" smtClean="0"/>
              <a:t>תשפ"ד-טבת-ב'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84574-485E-466C-9A19-018ABB68116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993080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468EF-E30D-4289-806F-F7F66AE6A55D}" type="datetimeFigureOut">
              <a:rPr lang="he-IL" smtClean="0"/>
              <a:t>תשפ"ד-טבת-ב'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84574-485E-466C-9A19-018ABB68116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833021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468EF-E30D-4289-806F-F7F66AE6A55D}" type="datetimeFigureOut">
              <a:rPr lang="he-IL" smtClean="0"/>
              <a:t>תשפ"ד-טבת-ב'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84574-485E-466C-9A19-018ABB68116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26685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F468EF-E30D-4289-806F-F7F66AE6A55D}" type="datetimeFigureOut">
              <a:rPr lang="he-IL" smtClean="0"/>
              <a:t>תשפ"ד-טבת-ב'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D5784574-485E-466C-9A19-018ABB68116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99517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1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asf"/><Relationship Id="rId1" Type="http://schemas.microsoft.com/office/2007/relationships/media" Target="../media/media1.asf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customXml" Target="../ink/ink3.xml"/><Relationship Id="rId10" Type="http://schemas.openxmlformats.org/officeDocument/2006/relationships/image" Target="../media/image6.png"/><Relationship Id="rId4" Type="http://schemas.openxmlformats.org/officeDocument/2006/relationships/image" Target="../media/image36.png"/><Relationship Id="rId9" Type="http://schemas.openxmlformats.org/officeDocument/2006/relationships/customXml" Target="../ink/ink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6634673-037C-8691-B91D-A6C9889A16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dirty="0"/>
              <a:t>תכנות ג'אווה לקבוצות </a:t>
            </a:r>
            <a:r>
              <a:rPr lang="en-US" dirty="0"/>
              <a:t>FRC</a:t>
            </a:r>
            <a:endParaRPr lang="he-IL" dirty="0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57675F92-3368-32C3-5FCB-1D67355331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 dirty="0"/>
              <a:t>יובל דולב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דיו 3">
                <a:extLst>
                  <a:ext uri="{FF2B5EF4-FFF2-40B4-BE49-F238E27FC236}">
                    <a16:creationId xmlns:a16="http://schemas.microsoft.com/office/drawing/2014/main" id="{1A6D54B0-F251-DC99-4BFB-4346D89F0C05}"/>
                  </a:ext>
                </a:extLst>
              </p14:cNvPr>
              <p14:cNvContentPartPr/>
              <p14:nvPr/>
            </p14:nvContentPartPr>
            <p14:xfrm>
              <a:off x="11076045" y="3051083"/>
              <a:ext cx="360" cy="4680"/>
            </p14:xfrm>
          </p:contentPart>
        </mc:Choice>
        <mc:Fallback xmlns="">
          <p:pic>
            <p:nvPicPr>
              <p:cNvPr id="4" name="דיו 3">
                <a:extLst>
                  <a:ext uri="{FF2B5EF4-FFF2-40B4-BE49-F238E27FC236}">
                    <a16:creationId xmlns:a16="http://schemas.microsoft.com/office/drawing/2014/main" id="{1A6D54B0-F251-DC99-4BFB-4346D89F0C0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071725" y="3046763"/>
                <a:ext cx="9000" cy="13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8079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55179E0-6965-C78B-DD91-2099B1CC8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מהי תוכנה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B402B9B-BFEE-E211-71C4-C29967593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60" y="2160589"/>
            <a:ext cx="8118441" cy="4189969"/>
          </a:xfrm>
        </p:spPr>
        <p:txBody>
          <a:bodyPr/>
          <a:lstStyle/>
          <a:p>
            <a:r>
              <a:rPr lang="he-IL" dirty="0"/>
              <a:t>כשמחשב מריץ תוכנה, התוכנה היא רצף של פקודות ששמור בזיכרון</a:t>
            </a:r>
          </a:p>
          <a:p>
            <a:r>
              <a:rPr lang="he-IL" dirty="0"/>
              <a:t>הן מתבצעות לפי הסדר, אלא אם אומרים להן אחרת (למשל יש פקודות ל"קפוץ לפקודה מספר </a:t>
            </a:r>
            <a:r>
              <a:rPr lang="en-US" dirty="0"/>
              <a:t>X</a:t>
            </a:r>
            <a:r>
              <a:rPr lang="he-IL" dirty="0"/>
              <a:t>" או "קפוץ לפקודה מספר </a:t>
            </a:r>
            <a:r>
              <a:rPr lang="en-US" dirty="0"/>
              <a:t>X</a:t>
            </a:r>
            <a:r>
              <a:rPr lang="he-IL" dirty="0"/>
              <a:t> </a:t>
            </a:r>
            <a:r>
              <a:rPr lang="he-IL" u="sng" dirty="0"/>
              <a:t>אם</a:t>
            </a:r>
            <a:r>
              <a:rPr lang="he-IL" dirty="0"/>
              <a:t> מתקיים מספר מסוים)</a:t>
            </a:r>
          </a:p>
          <a:p>
            <a:r>
              <a:rPr lang="he-IL" dirty="0"/>
              <a:t>הפקודות יודעות לעבוד עם הזיכרון, לבצע פעולות חשבון, ולעבוד עם מכשירים שמחוברים למחשב, כמו עכבר ומקלדת</a:t>
            </a:r>
          </a:p>
          <a:p>
            <a:pPr marL="0" indent="0">
              <a:buNone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054448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C8B4856-C76F-3910-6537-333FBE6D6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הרצה של תוכנית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8125D5F-BDCA-26FA-D0DA-323C8B9A1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כשמריצים תוכנית, המחשב מבצע את הפקודות לפי הסדר אלא אם אומרים לו אחרת</a:t>
            </a:r>
          </a:p>
          <a:p>
            <a:r>
              <a:rPr lang="he-IL" dirty="0"/>
              <a:t>למחשב יש זיכרון – ובזמן ריצת התוכנית, הזיכרון כולל את הפקודות של התוכנית, אבל גם דברים אחרים – הדברים שהתוכנית צריכה לרשום ולזכור ולבדוק ולשנות בשביל לבצע את המטרה שלה. יש גם את הזיכרון הקבוע של המחשב, זה שיש בו קבצים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803084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C8B4856-C76F-3910-6537-333FBE6D6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קומפילציה של תוכנית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8125D5F-BDCA-26FA-D0DA-323C8B9A1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כמו שבטח שמעתן, תוכניות מחשב כתובות בקוד בינארי, שמורכב רק מאפסים ואחדים ואינו מאוד קל לקריאה או לכתיבה על ידי אדם. לכן נוצרו שפות תכנות.</a:t>
            </a:r>
          </a:p>
          <a:p>
            <a:r>
              <a:rPr lang="he-IL" dirty="0"/>
              <a:t>שפות תכנות מאפשרות לנו לכתוב בשפה טקסטואלית שהיא יותר קרובה לצורת חשיבה אנושית, כך שאפשר להבין, לקרוא ולכתוב אותה יותר בקלות</a:t>
            </a:r>
          </a:p>
          <a:p>
            <a:r>
              <a:rPr lang="he-IL" u="sng" dirty="0"/>
              <a:t>כדי</a:t>
            </a:r>
            <a:r>
              <a:rPr lang="he-IL" dirty="0"/>
              <a:t> להפוך קבצי טקסט שכתובים בשפת תכנות, לקובץ בינארי שהמחשב יכול להריץ, דרושה תוכנה ייעודית בשם </a:t>
            </a:r>
            <a:r>
              <a:rPr lang="he-IL" u="sng" dirty="0"/>
              <a:t>קומפיילר</a:t>
            </a:r>
            <a:r>
              <a:rPr lang="he-IL" dirty="0"/>
              <a:t> (מהדר). המהדר הוא תוכנית משל עצמה, שהמטרה שלה היא להפוך את הקוד בשפת התכנות לתוכנית מחשב.</a:t>
            </a:r>
            <a:endParaRPr lang="he-IL" u="sng" dirty="0"/>
          </a:p>
        </p:txBody>
      </p:sp>
      <p:sp>
        <p:nvSpPr>
          <p:cNvPr id="11" name="אליפסה 10">
            <a:extLst>
              <a:ext uri="{FF2B5EF4-FFF2-40B4-BE49-F238E27FC236}">
                <a16:creationId xmlns:a16="http://schemas.microsoft.com/office/drawing/2014/main" id="{EC370B14-763C-1707-E43A-AD0FDFE38181}"/>
              </a:ext>
            </a:extLst>
          </p:cNvPr>
          <p:cNvSpPr/>
          <p:nvPr/>
        </p:nvSpPr>
        <p:spPr>
          <a:xfrm>
            <a:off x="1668026" y="4960013"/>
            <a:ext cx="2331218" cy="13565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Java file (text)</a:t>
            </a:r>
            <a:endParaRPr lang="he-IL" dirty="0"/>
          </a:p>
        </p:txBody>
      </p:sp>
      <p:sp>
        <p:nvSpPr>
          <p:cNvPr id="12" name="אליפסה 11">
            <a:extLst>
              <a:ext uri="{FF2B5EF4-FFF2-40B4-BE49-F238E27FC236}">
                <a16:creationId xmlns:a16="http://schemas.microsoft.com/office/drawing/2014/main" id="{9FA7E68C-C407-520C-7846-F7E6FDE3C83C}"/>
              </a:ext>
            </a:extLst>
          </p:cNvPr>
          <p:cNvSpPr/>
          <p:nvPr/>
        </p:nvSpPr>
        <p:spPr>
          <a:xfrm>
            <a:off x="4611566" y="4960013"/>
            <a:ext cx="2331218" cy="13565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Runnable file</a:t>
            </a:r>
          </a:p>
          <a:p>
            <a:pPr algn="ctr"/>
            <a:r>
              <a:rPr lang="en-US" dirty="0"/>
              <a:t>(binary)</a:t>
            </a:r>
            <a:endParaRPr lang="he-IL" dirty="0"/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F35E7614-9CC7-9D50-6C2C-13068DC0559F}"/>
              </a:ext>
            </a:extLst>
          </p:cNvPr>
          <p:cNvSpPr/>
          <p:nvPr/>
        </p:nvSpPr>
        <p:spPr>
          <a:xfrm>
            <a:off x="4290645" y="4614495"/>
            <a:ext cx="3416439" cy="18689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Java Compiler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880486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7.40741E-7 L 0.24141 6.33174E-1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992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7.40741E-7 L 0.30091 -0.0162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039" y="-81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4141 -7.40741E-7 L -3.125E-6 -7.40741E-7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0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2" grpId="0" animBg="1"/>
      <p:bldP spid="13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017A9E8-5DD1-32EB-8069-8892B3D08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הטרמינל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4BD8D6C-79F4-023E-0864-82731FFE6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623" y="1620983"/>
            <a:ext cx="8596667" cy="4420380"/>
          </a:xfrm>
        </p:spPr>
        <p:txBody>
          <a:bodyPr/>
          <a:lstStyle/>
          <a:p>
            <a:r>
              <a:rPr lang="he-IL" dirty="0"/>
              <a:t>לפני שהיו תוכנות גרפיות, מחשב היה רק מסך ומקלדת (בלי עכבר), ובו רק טקסט שאפשר להקליד למחשב, ללחוץ </a:t>
            </a:r>
            <a:r>
              <a:rPr lang="he-IL" dirty="0" err="1"/>
              <a:t>אנטר</a:t>
            </a:r>
            <a:r>
              <a:rPr lang="he-IL" dirty="0"/>
              <a:t>, ואז המחשב עושה משהו וכותב משהו בחזרה, קצת כמו צ'אט. זה נקרא טרמינל, או שורת פקודה (כי מה שאת מקלידה בו הוא פקודות).</a:t>
            </a:r>
          </a:p>
          <a:p>
            <a:r>
              <a:rPr lang="he-IL" dirty="0"/>
              <a:t>הטרמינל עדיין קיים במחשבים והתוכנות הראשונות שלנו יהיו "רק" לטרמינל, כלומר עם קלט ופלט בסגנון הישן הזה. למה? כי שם נוח להתחיל</a:t>
            </a:r>
          </a:p>
          <a:p>
            <a:r>
              <a:rPr lang="he-IL" dirty="0"/>
              <a:t>מדי פעם גם נצטרך לעשות דברים אחרים בטרמינל</a:t>
            </a:r>
          </a:p>
        </p:txBody>
      </p:sp>
      <p:pic>
        <p:nvPicPr>
          <p:cNvPr id="4" name="record_000063">
            <a:hlinkClick r:id="" action="ppaction://media"/>
            <a:extLst>
              <a:ext uri="{FF2B5EF4-FFF2-40B4-BE49-F238E27FC236}">
                <a16:creationId xmlns:a16="http://schemas.microsoft.com/office/drawing/2014/main" id="{F2DC4965-3C04-0662-3A54-57F9469E239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694710" y="3774136"/>
            <a:ext cx="5791200" cy="292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364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18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FDA4877-3B25-2A6B-1573-F662E15AC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פלט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D64D3246-A523-969E-A29F-6AE4A9A71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116" y="1402430"/>
            <a:ext cx="8666886" cy="38696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דיו 2">
                <a:extLst>
                  <a:ext uri="{FF2B5EF4-FFF2-40B4-BE49-F238E27FC236}">
                    <a16:creationId xmlns:a16="http://schemas.microsoft.com/office/drawing/2014/main" id="{3B037A45-42FE-5B9E-BA9B-922D7DBDFBBF}"/>
                  </a:ext>
                </a:extLst>
              </p14:cNvPr>
              <p14:cNvContentPartPr/>
              <p14:nvPr/>
            </p14:nvContentPartPr>
            <p14:xfrm>
              <a:off x="8972640" y="3676680"/>
              <a:ext cx="298800" cy="248040"/>
            </p14:xfrm>
          </p:contentPart>
        </mc:Choice>
        <mc:Fallback xmlns="">
          <p:pic>
            <p:nvPicPr>
              <p:cNvPr id="3" name="דיו 2">
                <a:extLst>
                  <a:ext uri="{FF2B5EF4-FFF2-40B4-BE49-F238E27FC236}">
                    <a16:creationId xmlns:a16="http://schemas.microsoft.com/office/drawing/2014/main" id="{3B037A45-42FE-5B9E-BA9B-922D7DBDFBB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56800" y="3613320"/>
                <a:ext cx="330120" cy="37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דיו 3">
                <a:extLst>
                  <a:ext uri="{FF2B5EF4-FFF2-40B4-BE49-F238E27FC236}">
                    <a16:creationId xmlns:a16="http://schemas.microsoft.com/office/drawing/2014/main" id="{1639A770-6B7B-3E5A-A293-3D2E9A0FFA0F}"/>
                  </a:ext>
                </a:extLst>
              </p14:cNvPr>
              <p14:cNvContentPartPr/>
              <p14:nvPr/>
            </p14:nvContentPartPr>
            <p14:xfrm>
              <a:off x="2158920" y="4457520"/>
              <a:ext cx="298800" cy="203760"/>
            </p14:xfrm>
          </p:contentPart>
        </mc:Choice>
        <mc:Fallback xmlns="">
          <p:pic>
            <p:nvPicPr>
              <p:cNvPr id="4" name="דיו 3">
                <a:extLst>
                  <a:ext uri="{FF2B5EF4-FFF2-40B4-BE49-F238E27FC236}">
                    <a16:creationId xmlns:a16="http://schemas.microsoft.com/office/drawing/2014/main" id="{1639A770-6B7B-3E5A-A293-3D2E9A0FFA0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43080" y="4394160"/>
                <a:ext cx="330120" cy="33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דיו 4">
                <a:extLst>
                  <a:ext uri="{FF2B5EF4-FFF2-40B4-BE49-F238E27FC236}">
                    <a16:creationId xmlns:a16="http://schemas.microsoft.com/office/drawing/2014/main" id="{D74CEC9B-D320-17BB-15F9-726985B9F1C2}"/>
                  </a:ext>
                </a:extLst>
              </p14:cNvPr>
              <p14:cNvContentPartPr/>
              <p14:nvPr/>
            </p14:nvContentPartPr>
            <p14:xfrm>
              <a:off x="4521240" y="3276720"/>
              <a:ext cx="451080" cy="235080"/>
            </p14:xfrm>
          </p:contentPart>
        </mc:Choice>
        <mc:Fallback xmlns="">
          <p:pic>
            <p:nvPicPr>
              <p:cNvPr id="5" name="דיו 4">
                <a:extLst>
                  <a:ext uri="{FF2B5EF4-FFF2-40B4-BE49-F238E27FC236}">
                    <a16:creationId xmlns:a16="http://schemas.microsoft.com/office/drawing/2014/main" id="{D74CEC9B-D320-17BB-15F9-726985B9F1C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505400" y="3213360"/>
                <a:ext cx="482400" cy="36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דיו 5">
                <a:extLst>
                  <a:ext uri="{FF2B5EF4-FFF2-40B4-BE49-F238E27FC236}">
                    <a16:creationId xmlns:a16="http://schemas.microsoft.com/office/drawing/2014/main" id="{A29A8E29-E90C-44E3-41AE-4518E8D8519A}"/>
                  </a:ext>
                </a:extLst>
              </p14:cNvPr>
              <p14:cNvContentPartPr/>
              <p14:nvPr/>
            </p14:nvContentPartPr>
            <p14:xfrm>
              <a:off x="1422360" y="4788000"/>
              <a:ext cx="336960" cy="260640"/>
            </p14:xfrm>
          </p:contentPart>
        </mc:Choice>
        <mc:Fallback xmlns="">
          <p:pic>
            <p:nvPicPr>
              <p:cNvPr id="6" name="דיו 5">
                <a:extLst>
                  <a:ext uri="{FF2B5EF4-FFF2-40B4-BE49-F238E27FC236}">
                    <a16:creationId xmlns:a16="http://schemas.microsoft.com/office/drawing/2014/main" id="{A29A8E29-E90C-44E3-41AE-4518E8D8519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406520" y="4724640"/>
                <a:ext cx="368280" cy="38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49141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FDA4877-3B25-2A6B-1573-F662E15AC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פלט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D64D3246-A523-969E-A29F-6AE4A9A71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116" y="1402430"/>
            <a:ext cx="8666886" cy="3869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47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FDA4877-3B25-2A6B-1573-F662E15AC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פלט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D64D3246-A523-969E-A29F-6AE4A9A71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116" y="1402430"/>
            <a:ext cx="8666886" cy="3869618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3319B1DB-EB9E-34AA-ECEC-A7BE7B42B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16" y="1418122"/>
            <a:ext cx="9019205" cy="4132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220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315E288-C0BF-31DD-424E-9CD039AFF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פלט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FD6A6380-BCEE-F5BE-7924-0825F4AB1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57" y="609600"/>
            <a:ext cx="5953956" cy="5725324"/>
          </a:xfrm>
          <a:prstGeom prst="rect">
            <a:avLst/>
          </a:prstGeom>
        </p:spPr>
      </p:pic>
      <p:sp>
        <p:nvSpPr>
          <p:cNvPr id="8" name="מלבן 7">
            <a:extLst>
              <a:ext uri="{FF2B5EF4-FFF2-40B4-BE49-F238E27FC236}">
                <a16:creationId xmlns:a16="http://schemas.microsoft.com/office/drawing/2014/main" id="{E78FD4D1-0F77-9633-F0A3-46647543D07F}"/>
              </a:ext>
            </a:extLst>
          </p:cNvPr>
          <p:cNvSpPr/>
          <p:nvPr/>
        </p:nvSpPr>
        <p:spPr>
          <a:xfrm>
            <a:off x="7502928" y="1429938"/>
            <a:ext cx="1609736" cy="450892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287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David" panose="020E0502060401010101" pitchFamily="34" charset="-79"/>
                <a:cs typeface="David" panose="020E0502060401010101" pitchFamily="34" charset="-79"/>
              </a:rPr>
              <a:t>;</a:t>
            </a:r>
            <a:endParaRPr lang="he-IL" sz="11500" b="1" cap="none" spc="0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361510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86FA4DE-243D-1F19-3AA4-C3DB2F12A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הערות</a:t>
            </a:r>
            <a:br>
              <a:rPr lang="he-IL" sz="2400" dirty="0"/>
            </a:br>
            <a:r>
              <a:rPr lang="he-IL" sz="2400" dirty="0"/>
              <a:t>(בשמות אחרים: </a:t>
            </a:r>
            <a:r>
              <a:rPr lang="he-IL" sz="2400" dirty="0" err="1"/>
              <a:t>קומנטים</a:t>
            </a:r>
            <a:r>
              <a:rPr lang="he-IL" sz="2400" dirty="0"/>
              <a:t>, </a:t>
            </a:r>
            <a:r>
              <a:rPr lang="en-US" sz="2400" dirty="0"/>
              <a:t>comments</a:t>
            </a:r>
            <a:r>
              <a:rPr lang="he-IL" sz="2400" dirty="0"/>
              <a:t>, תגובות)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BC86C85-378F-FFEC-C3B8-D08AD83C7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009670"/>
            <a:ext cx="8596668" cy="4031692"/>
          </a:xfrm>
        </p:spPr>
        <p:txBody>
          <a:bodyPr/>
          <a:lstStyle/>
          <a:p>
            <a:r>
              <a:rPr lang="he-IL" dirty="0"/>
              <a:t>שפות תכנות ושפה אנושית הם עדיין לא אותו דבר בדיוק</a:t>
            </a:r>
          </a:p>
          <a:p>
            <a:r>
              <a:rPr lang="he-IL" dirty="0"/>
              <a:t>לפעמים אנחנו רוצים לכתוב הסבר ליד הקוד בשפה אנושית</a:t>
            </a:r>
          </a:p>
          <a:p>
            <a:r>
              <a:rPr lang="he-IL" dirty="0"/>
              <a:t>שפות רבות, כולל </a:t>
            </a:r>
            <a:r>
              <a:rPr lang="en-US" dirty="0"/>
              <a:t>Java</a:t>
            </a:r>
            <a:r>
              <a:rPr lang="he-IL" dirty="0"/>
              <a:t>, מאפשרות הערות – הוספת טקסט לקוד שאינו חלק מהקוד ונועד להסביר אותו למי שייקרא אותו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517A6C87-A83E-65CF-B7A8-E5FB6B5D0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090" y="3608309"/>
            <a:ext cx="5858693" cy="287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9567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71C2D8A-EF1C-E988-9B6B-C6CCD43E8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733530"/>
          </a:xfrm>
        </p:spPr>
        <p:txBody>
          <a:bodyPr/>
          <a:lstStyle/>
          <a:p>
            <a:pPr algn="r"/>
            <a:r>
              <a:rPr lang="he-IL" dirty="0"/>
              <a:t>סוגי הערות ב-</a:t>
            </a:r>
            <a:r>
              <a:rPr lang="en-US" dirty="0"/>
              <a:t>Java</a:t>
            </a:r>
            <a:endParaRPr lang="he-IL" dirty="0"/>
          </a:p>
        </p:txBody>
      </p:sp>
      <p:graphicFrame>
        <p:nvGraphicFramePr>
          <p:cNvPr id="4" name="טבלה 4">
            <a:extLst>
              <a:ext uri="{FF2B5EF4-FFF2-40B4-BE49-F238E27FC236}">
                <a16:creationId xmlns:a16="http://schemas.microsoft.com/office/drawing/2014/main" id="{4F636AF0-91C8-C41C-7B80-EA9B4FA9FF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8795436"/>
              </p:ext>
            </p:extLst>
          </p:nvPr>
        </p:nvGraphicFramePr>
        <p:xfrm>
          <a:off x="677334" y="733530"/>
          <a:ext cx="11304396" cy="3279596"/>
        </p:xfrm>
        <a:graphic>
          <a:graphicData uri="http://schemas.openxmlformats.org/drawingml/2006/table">
            <a:tbl>
              <a:tblPr rtl="1" firstCol="1" bandRow="1">
                <a:tableStyleId>{5C22544A-7EE6-4342-B048-85BDC9FD1C3A}</a:tableStyleId>
              </a:tblPr>
              <a:tblGrid>
                <a:gridCol w="1611301">
                  <a:extLst>
                    <a:ext uri="{9D8B030D-6E8A-4147-A177-3AD203B41FA5}">
                      <a16:colId xmlns:a16="http://schemas.microsoft.com/office/drawing/2014/main" val="1421147518"/>
                    </a:ext>
                  </a:extLst>
                </a:gridCol>
                <a:gridCol w="2299343">
                  <a:extLst>
                    <a:ext uri="{9D8B030D-6E8A-4147-A177-3AD203B41FA5}">
                      <a16:colId xmlns:a16="http://schemas.microsoft.com/office/drawing/2014/main" val="4171188271"/>
                    </a:ext>
                  </a:extLst>
                </a:gridCol>
                <a:gridCol w="7393752">
                  <a:extLst>
                    <a:ext uri="{9D8B030D-6E8A-4147-A177-3AD203B41FA5}">
                      <a16:colId xmlns:a16="http://schemas.microsoft.com/office/drawing/2014/main" val="3482941474"/>
                    </a:ext>
                  </a:extLst>
                </a:gridCol>
              </a:tblGrid>
              <a:tr h="1791326"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הערה של שורה אחת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מתחילה ב-// ונגמרת כשיורדים שורה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2799348"/>
                  </a:ext>
                </a:extLst>
              </a:tr>
              <a:tr h="1488270">
                <a:tc>
                  <a:txBody>
                    <a:bodyPr/>
                    <a:lstStyle/>
                    <a:p>
                      <a:pPr marL="0" marR="0" lvl="0" indent="0" algn="r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400" dirty="0"/>
                        <a:t>הערה של הרבה שורות (אפשר גם אחת – או פחות אפילו)</a:t>
                      </a:r>
                    </a:p>
                    <a:p>
                      <a:pPr rtl="1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he-IL" dirty="0"/>
                        <a:t>מתחילה ב-</a:t>
                      </a:r>
                      <a:r>
                        <a:rPr lang="en-US" dirty="0"/>
                        <a:t>/*</a:t>
                      </a:r>
                      <a:r>
                        <a:rPr lang="he-IL" dirty="0"/>
                        <a:t> ונגמרת ב-/*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43266"/>
                  </a:ext>
                </a:extLst>
              </a:tr>
            </a:tbl>
          </a:graphicData>
        </a:graphic>
      </p:graphicFrame>
      <p:pic>
        <p:nvPicPr>
          <p:cNvPr id="8" name="תמונה 7">
            <a:extLst>
              <a:ext uri="{FF2B5EF4-FFF2-40B4-BE49-F238E27FC236}">
                <a16:creationId xmlns:a16="http://schemas.microsoft.com/office/drawing/2014/main" id="{1DC47E5D-26C1-63FE-4AE3-BAF2C8A34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65" y="1286060"/>
            <a:ext cx="7017088" cy="346298"/>
          </a:xfrm>
          <a:prstGeom prst="rect">
            <a:avLst/>
          </a:prstGeom>
        </p:spPr>
      </p:pic>
      <p:pic>
        <p:nvPicPr>
          <p:cNvPr id="12" name="תמונה 11">
            <a:extLst>
              <a:ext uri="{FF2B5EF4-FFF2-40B4-BE49-F238E27FC236}">
                <a16:creationId xmlns:a16="http://schemas.microsoft.com/office/drawing/2014/main" id="{3E9F9929-4B4B-C599-C02D-35B14621D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594" y="2577045"/>
            <a:ext cx="7116460" cy="1119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899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FDA4877-3B25-2A6B-1573-F662E15AC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משתנים</a:t>
            </a:r>
          </a:p>
        </p:txBody>
      </p:sp>
      <p:graphicFrame>
        <p:nvGraphicFramePr>
          <p:cNvPr id="4" name="טבלה 4">
            <a:extLst>
              <a:ext uri="{FF2B5EF4-FFF2-40B4-BE49-F238E27FC236}">
                <a16:creationId xmlns:a16="http://schemas.microsoft.com/office/drawing/2014/main" id="{313BA425-DF83-7F02-7B0B-04E69F7727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6087257"/>
              </p:ext>
            </p:extLst>
          </p:nvPr>
        </p:nvGraphicFramePr>
        <p:xfrm>
          <a:off x="4422813" y="1251579"/>
          <a:ext cx="4657812" cy="5320322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552604">
                  <a:extLst>
                    <a:ext uri="{9D8B030D-6E8A-4147-A177-3AD203B41FA5}">
                      <a16:colId xmlns:a16="http://schemas.microsoft.com/office/drawing/2014/main" val="2964286273"/>
                    </a:ext>
                  </a:extLst>
                </a:gridCol>
                <a:gridCol w="1552604">
                  <a:extLst>
                    <a:ext uri="{9D8B030D-6E8A-4147-A177-3AD203B41FA5}">
                      <a16:colId xmlns:a16="http://schemas.microsoft.com/office/drawing/2014/main" val="236120250"/>
                    </a:ext>
                  </a:extLst>
                </a:gridCol>
                <a:gridCol w="1552604">
                  <a:extLst>
                    <a:ext uri="{9D8B030D-6E8A-4147-A177-3AD203B41FA5}">
                      <a16:colId xmlns:a16="http://schemas.microsoft.com/office/drawing/2014/main" val="640239567"/>
                    </a:ext>
                  </a:extLst>
                </a:gridCol>
              </a:tblGrid>
              <a:tr h="760046">
                <a:tc>
                  <a:txBody>
                    <a:bodyPr/>
                    <a:lstStyle/>
                    <a:p>
                      <a:pPr algn="l" rtl="0"/>
                      <a:r>
                        <a:rPr lang="en-US" sz="2800" dirty="0"/>
                        <a:t>Value</a:t>
                      </a:r>
                      <a:endParaRPr lang="he-IL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800" dirty="0"/>
                        <a:t>Name</a:t>
                      </a:r>
                      <a:endParaRPr lang="he-IL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800" dirty="0"/>
                        <a:t>Type</a:t>
                      </a:r>
                      <a:endParaRPr lang="he-IL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125639"/>
                  </a:ext>
                </a:extLst>
              </a:tr>
              <a:tr h="760046">
                <a:tc>
                  <a:txBody>
                    <a:bodyPr/>
                    <a:lstStyle/>
                    <a:p>
                      <a:pPr algn="l" rtl="0"/>
                      <a:r>
                        <a:rPr lang="en-US" sz="2800" dirty="0"/>
                        <a:t>0</a:t>
                      </a:r>
                      <a:endParaRPr lang="he-IL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800" dirty="0" err="1"/>
                        <a:t>i</a:t>
                      </a:r>
                      <a:endParaRPr lang="he-IL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800" dirty="0"/>
                        <a:t>int</a:t>
                      </a:r>
                      <a:endParaRPr lang="he-IL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2532680"/>
                  </a:ext>
                </a:extLst>
              </a:tr>
              <a:tr h="760046">
                <a:tc>
                  <a:txBody>
                    <a:bodyPr/>
                    <a:lstStyle/>
                    <a:p>
                      <a:pPr algn="l" rtl="0"/>
                      <a:r>
                        <a:rPr lang="en-US" sz="2800" dirty="0"/>
                        <a:t>-4</a:t>
                      </a:r>
                      <a:endParaRPr lang="he-IL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800" dirty="0"/>
                        <a:t>j</a:t>
                      </a:r>
                      <a:endParaRPr lang="he-IL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800" dirty="0"/>
                        <a:t>int</a:t>
                      </a:r>
                      <a:endParaRPr lang="he-IL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08558"/>
                  </a:ext>
                </a:extLst>
              </a:tr>
              <a:tr h="760046">
                <a:tc>
                  <a:txBody>
                    <a:bodyPr/>
                    <a:lstStyle/>
                    <a:p>
                      <a:pPr algn="l" rtl="0"/>
                      <a:r>
                        <a:rPr lang="en-US" sz="2800" dirty="0"/>
                        <a:t>4.0</a:t>
                      </a:r>
                      <a:endParaRPr lang="he-IL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800" dirty="0"/>
                        <a:t>d</a:t>
                      </a:r>
                      <a:endParaRPr lang="he-IL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800" dirty="0"/>
                        <a:t>double</a:t>
                      </a:r>
                      <a:endParaRPr lang="he-IL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8859645"/>
                  </a:ext>
                </a:extLst>
              </a:tr>
              <a:tr h="760046">
                <a:tc>
                  <a:txBody>
                    <a:bodyPr/>
                    <a:lstStyle/>
                    <a:p>
                      <a:pPr algn="l" rtl="0"/>
                      <a:r>
                        <a:rPr lang="en-US" sz="2800" dirty="0"/>
                        <a:t>‘Q’</a:t>
                      </a:r>
                      <a:endParaRPr lang="he-IL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800" dirty="0"/>
                        <a:t>c</a:t>
                      </a:r>
                      <a:endParaRPr lang="he-IL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800" dirty="0"/>
                        <a:t>char</a:t>
                      </a:r>
                      <a:endParaRPr lang="he-IL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7496166"/>
                  </a:ext>
                </a:extLst>
              </a:tr>
              <a:tr h="760046">
                <a:tc>
                  <a:txBody>
                    <a:bodyPr/>
                    <a:lstStyle/>
                    <a:p>
                      <a:pPr algn="l" rtl="0"/>
                      <a:r>
                        <a:rPr lang="en-US" sz="2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true</a:t>
                      </a:r>
                      <a:endParaRPr lang="he-IL" sz="2800" b="1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800" dirty="0"/>
                        <a:t>flag</a:t>
                      </a:r>
                      <a:endParaRPr lang="he-IL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800" dirty="0"/>
                        <a:t>boolean</a:t>
                      </a:r>
                      <a:endParaRPr lang="he-IL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584242"/>
                  </a:ext>
                </a:extLst>
              </a:tr>
              <a:tr h="760046">
                <a:tc>
                  <a:txBody>
                    <a:bodyPr/>
                    <a:lstStyle/>
                    <a:p>
                      <a:pPr algn="l" rtl="0"/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“hello”</a:t>
                      </a:r>
                      <a:endParaRPr lang="he-IL" sz="2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800" dirty="0"/>
                        <a:t>text</a:t>
                      </a:r>
                      <a:endParaRPr lang="he-IL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2800" dirty="0"/>
                        <a:t>String</a:t>
                      </a:r>
                      <a:endParaRPr lang="he-IL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400961"/>
                  </a:ext>
                </a:extLst>
              </a:tr>
            </a:tbl>
          </a:graphicData>
        </a:graphic>
      </p:graphicFrame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7AF83F6-A5B0-6D81-0618-BFACEDD98D05}"/>
              </a:ext>
            </a:extLst>
          </p:cNvPr>
          <p:cNvSpPr txBox="1">
            <a:spLocks/>
          </p:cNvSpPr>
          <p:nvPr/>
        </p:nvSpPr>
        <p:spPr>
          <a:xfrm>
            <a:off x="677334" y="2009670"/>
            <a:ext cx="3538174" cy="40316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dirty="0"/>
              <a:t>חלק בזיכרון שנותנים לו שם – כדי שנוכל לגשת אליו לקריאה ולכתיבה</a:t>
            </a:r>
          </a:p>
          <a:p>
            <a:r>
              <a:rPr lang="he-IL" dirty="0"/>
              <a:t>נותנים לו גם טיפוס – סוג המידע שהוא יכול לאחסן</a:t>
            </a:r>
          </a:p>
          <a:p>
            <a:r>
              <a:rPr lang="he-IL" dirty="0"/>
              <a:t>הערך (תוכן) שלו בזמן הריצה יכול להשתנות (ומכאן השם "משתנים")</a:t>
            </a:r>
          </a:p>
        </p:txBody>
      </p:sp>
      <p:pic>
        <p:nvPicPr>
          <p:cNvPr id="5" name="Picture 2" descr="Shape-Fitting Puzzle | TFH Special Needs Toys USA">
            <a:extLst>
              <a:ext uri="{FF2B5EF4-FFF2-40B4-BE49-F238E27FC236}">
                <a16:creationId xmlns:a16="http://schemas.microsoft.com/office/drawing/2014/main" id="{168AF3B7-92BA-8ACA-8091-124432EDB0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3764" y="2341267"/>
            <a:ext cx="2380902" cy="238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גליל 5">
            <a:extLst>
              <a:ext uri="{FF2B5EF4-FFF2-40B4-BE49-F238E27FC236}">
                <a16:creationId xmlns:a16="http://schemas.microsoft.com/office/drawing/2014/main" id="{5C84C920-555E-B3D4-D05C-A47E737F52B4}"/>
              </a:ext>
            </a:extLst>
          </p:cNvPr>
          <p:cNvSpPr/>
          <p:nvPr/>
        </p:nvSpPr>
        <p:spPr>
          <a:xfrm>
            <a:off x="10862268" y="2195009"/>
            <a:ext cx="442128" cy="703384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" name="גליל 6">
            <a:extLst>
              <a:ext uri="{FF2B5EF4-FFF2-40B4-BE49-F238E27FC236}">
                <a16:creationId xmlns:a16="http://schemas.microsoft.com/office/drawing/2014/main" id="{BD12190C-A5EE-8D03-16DD-4F91DB62CE0D}"/>
              </a:ext>
            </a:extLst>
          </p:cNvPr>
          <p:cNvSpPr/>
          <p:nvPr/>
        </p:nvSpPr>
        <p:spPr>
          <a:xfrm>
            <a:off x="10862268" y="492369"/>
            <a:ext cx="442128" cy="1643465"/>
          </a:xfrm>
          <a:prstGeom prst="can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94538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FDA4877-3B25-2A6B-1573-F662E15AC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6" y="45774"/>
            <a:ext cx="8596668" cy="1320800"/>
          </a:xfrm>
        </p:spPr>
        <p:txBody>
          <a:bodyPr/>
          <a:lstStyle/>
          <a:p>
            <a:pPr algn="r"/>
            <a:r>
              <a:rPr lang="he-IL" dirty="0"/>
              <a:t>טיפוסי משתנים</a:t>
            </a:r>
          </a:p>
        </p:txBody>
      </p:sp>
      <p:graphicFrame>
        <p:nvGraphicFramePr>
          <p:cNvPr id="4" name="טבלה 4">
            <a:extLst>
              <a:ext uri="{FF2B5EF4-FFF2-40B4-BE49-F238E27FC236}">
                <a16:creationId xmlns:a16="http://schemas.microsoft.com/office/drawing/2014/main" id="{6E2D4308-2825-B3C0-AEA8-F00F7EE07A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0867382"/>
              </p:ext>
            </p:extLst>
          </p:nvPr>
        </p:nvGraphicFramePr>
        <p:xfrm>
          <a:off x="678397" y="894303"/>
          <a:ext cx="8596137" cy="552504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865379">
                  <a:extLst>
                    <a:ext uri="{9D8B030D-6E8A-4147-A177-3AD203B41FA5}">
                      <a16:colId xmlns:a16="http://schemas.microsoft.com/office/drawing/2014/main" val="648265555"/>
                    </a:ext>
                  </a:extLst>
                </a:gridCol>
                <a:gridCol w="2865379">
                  <a:extLst>
                    <a:ext uri="{9D8B030D-6E8A-4147-A177-3AD203B41FA5}">
                      <a16:colId xmlns:a16="http://schemas.microsoft.com/office/drawing/2014/main" val="2174025638"/>
                    </a:ext>
                  </a:extLst>
                </a:gridCol>
                <a:gridCol w="2865379">
                  <a:extLst>
                    <a:ext uri="{9D8B030D-6E8A-4147-A177-3AD203B41FA5}">
                      <a16:colId xmlns:a16="http://schemas.microsoft.com/office/drawing/2014/main" val="1971792913"/>
                    </a:ext>
                  </a:extLst>
                </a:gridCol>
              </a:tblGrid>
              <a:tr h="768440"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שם טיפוס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משמעות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ערכים אפשריים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9220739"/>
                  </a:ext>
                </a:extLst>
              </a:tr>
              <a:tr h="7684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int</a:t>
                      </a:r>
                      <a:endParaRPr lang="he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מספרים שלמים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0, -1, 5, 4319</a:t>
                      </a:r>
                      <a:endParaRPr lang="he-IL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3536715"/>
                  </a:ext>
                </a:extLst>
              </a:tr>
              <a:tr h="7684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double</a:t>
                      </a:r>
                      <a:endParaRPr lang="he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מספרים עשרוניים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0.0, -0.1,-9876.7, 123.54</a:t>
                      </a:r>
                      <a:endParaRPr lang="he-IL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628544"/>
                  </a:ext>
                </a:extLst>
              </a:tr>
              <a:tr h="7684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char</a:t>
                      </a:r>
                      <a:endParaRPr lang="he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תו (אחד) של טקסט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‘a’, ‘A’, ‘ ‘, ‘+’, ‘</a:t>
                      </a:r>
                      <a:r>
                        <a:rPr lang="he-IL" dirty="0"/>
                        <a:t>א</a:t>
                      </a:r>
                      <a:r>
                        <a:rPr lang="en-US" dirty="0"/>
                        <a:t>’, ‘</a:t>
                      </a:r>
                      <a:r>
                        <a:rPr lang="el-G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α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’, ‘</a:t>
                      </a:r>
                      <a:r>
                        <a:rPr lang="ar-A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ﷺ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’, ‘</a:t>
                      </a:r>
                      <a:r>
                        <a:rPr lang="he-IL" sz="1800" b="0" i="0" kern="1200" dirty="0">
                          <a:solidFill>
                            <a:schemeClr val="dk1"/>
                          </a:solidFill>
                          <a:effectLst/>
                          <a:latin typeface="Guttman Vilna" panose="02010401010101010101" pitchFamily="2" charset="-79"/>
                          <a:ea typeface="+mn-ea"/>
                          <a:cs typeface="Guttman Vilna" panose="02010401010101010101" pitchFamily="2" charset="-79"/>
                        </a:rPr>
                        <a:t>ﭏ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’,‘🗾’</a:t>
                      </a:r>
                      <a:endParaRPr lang="ar-AE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904429"/>
                  </a:ext>
                </a:extLst>
              </a:tr>
              <a:tr h="7684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boolean</a:t>
                      </a:r>
                      <a:endParaRPr lang="he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ערך אמת – "כן"/"לא"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true, false</a:t>
                      </a:r>
                      <a:endParaRPr lang="he-IL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5311319"/>
                  </a:ext>
                </a:extLst>
              </a:tr>
              <a:tr h="880562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long</a:t>
                      </a:r>
                      <a:endParaRPr lang="he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מספרים שלמים (בטווח יותר גדול)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0L, 1234L, 5534023222112865483L,</a:t>
                      </a:r>
                    </a:p>
                    <a:p>
                      <a:pPr algn="ctr" rtl="1"/>
                      <a:r>
                        <a:rPr lang="en-US" dirty="0"/>
                        <a:t> -5270498306774157604L </a:t>
                      </a:r>
                      <a:endParaRPr lang="he-IL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0726713"/>
                  </a:ext>
                </a:extLst>
              </a:tr>
              <a:tr h="7684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String</a:t>
                      </a:r>
                      <a:endParaRPr lang="he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/>
                        <a:t>טקסט – רצף של תווים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“”, “Hello world”</a:t>
                      </a:r>
                      <a:endParaRPr lang="he-IL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56422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00736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236E248-9E78-B9B0-151F-DF14D9AF1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הצהרה והשמה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57A16137-E6F4-73C0-A8CE-F87F6808A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07" y="517598"/>
            <a:ext cx="6039693" cy="5963482"/>
          </a:xfrm>
          <a:prstGeom prst="rect">
            <a:avLst/>
          </a:prstGeom>
        </p:spPr>
      </p:pic>
      <p:cxnSp>
        <p:nvCxnSpPr>
          <p:cNvPr id="4" name="מחבר: מרפקי 3">
            <a:extLst>
              <a:ext uri="{FF2B5EF4-FFF2-40B4-BE49-F238E27FC236}">
                <a16:creationId xmlns:a16="http://schemas.microsoft.com/office/drawing/2014/main" id="{D60E1CF2-AD78-AC0C-5160-DFD0D4951A7B}"/>
              </a:ext>
            </a:extLst>
          </p:cNvPr>
          <p:cNvCxnSpPr>
            <a:cxnSpLocks/>
          </p:cNvCxnSpPr>
          <p:nvPr/>
        </p:nvCxnSpPr>
        <p:spPr>
          <a:xfrm rot="10800000" flipV="1">
            <a:off x="2532185" y="2505108"/>
            <a:ext cx="4270549" cy="1"/>
          </a:xfrm>
          <a:prstGeom prst="bentConnector3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3D9B13EA-A586-E2A4-310A-16A8E70FFE88}"/>
              </a:ext>
            </a:extLst>
          </p:cNvPr>
          <p:cNvSpPr txBox="1"/>
          <p:nvPr/>
        </p:nvSpPr>
        <p:spPr>
          <a:xfrm>
            <a:off x="6802734" y="2320442"/>
            <a:ext cx="2120201" cy="36933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הצהרה – טיפוס ושם</a:t>
            </a: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C8AD7119-56DB-BFEE-13A3-90DE3B8671DF}"/>
              </a:ext>
            </a:extLst>
          </p:cNvPr>
          <p:cNvSpPr/>
          <p:nvPr/>
        </p:nvSpPr>
        <p:spPr>
          <a:xfrm>
            <a:off x="1627833" y="2853732"/>
            <a:ext cx="904352" cy="300891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A4B7392F-0E8F-DC83-A67C-C8F80CB2929A}"/>
              </a:ext>
            </a:extLst>
          </p:cNvPr>
          <p:cNvSpPr/>
          <p:nvPr/>
        </p:nvSpPr>
        <p:spPr>
          <a:xfrm>
            <a:off x="1426866" y="2874863"/>
            <a:ext cx="2662813" cy="3051482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3" name="מחבר: מרפקי 2">
            <a:extLst>
              <a:ext uri="{FF2B5EF4-FFF2-40B4-BE49-F238E27FC236}">
                <a16:creationId xmlns:a16="http://schemas.microsoft.com/office/drawing/2014/main" id="{4E4F27F9-9A6B-933A-670D-FE90958886CB}"/>
              </a:ext>
            </a:extLst>
          </p:cNvPr>
          <p:cNvCxnSpPr>
            <a:cxnSpLocks/>
          </p:cNvCxnSpPr>
          <p:nvPr/>
        </p:nvCxnSpPr>
        <p:spPr>
          <a:xfrm rot="10800000">
            <a:off x="2532185" y="2718150"/>
            <a:ext cx="4270550" cy="276999"/>
          </a:xfrm>
          <a:prstGeom prst="bentConnector3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F382947F-BA42-52CD-4F0C-42116103A1C5}"/>
              </a:ext>
            </a:extLst>
          </p:cNvPr>
          <p:cNvSpPr txBox="1"/>
          <p:nvPr/>
        </p:nvSpPr>
        <p:spPr>
          <a:xfrm>
            <a:off x="6802734" y="2810483"/>
            <a:ext cx="2120201" cy="36933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השמה – שם ואז ערך</a:t>
            </a:r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2A79006F-4C24-E72E-DAE8-9B6C685E6BC0}"/>
              </a:ext>
            </a:extLst>
          </p:cNvPr>
          <p:cNvSpPr/>
          <p:nvPr/>
        </p:nvSpPr>
        <p:spPr>
          <a:xfrm>
            <a:off x="3165230" y="4124278"/>
            <a:ext cx="8782260" cy="25322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he-IL" dirty="0"/>
              <a:t>פקודת השמה משתמשת בסימן = אבל אסור להתבלבל בינה לבין השוואה מתמטית</a:t>
            </a:r>
          </a:p>
          <a:p>
            <a:pPr algn="ctr" rtl="1"/>
            <a:endParaRPr lang="he-IL" dirty="0"/>
          </a:p>
          <a:p>
            <a:pPr algn="ctr" rtl="1"/>
            <a:r>
              <a:rPr lang="he-IL" dirty="0"/>
              <a:t>פקודת השמה אומרת "נחשב מה שיש בשמאל ואת זה נכניס למשתנה שהשם שלו בימין"</a:t>
            </a:r>
          </a:p>
          <a:p>
            <a:pPr algn="ctr" rtl="1"/>
            <a:endParaRPr lang="he-IL" dirty="0"/>
          </a:p>
          <a:p>
            <a:pPr algn="ctr" rtl="1"/>
            <a:r>
              <a:rPr lang="he-IL" dirty="0"/>
              <a:t>יש גם שפות שבהן היו כותבים</a:t>
            </a:r>
          </a:p>
          <a:p>
            <a:pPr algn="ctr" rtl="1"/>
            <a:r>
              <a:rPr lang="en-US" dirty="0"/>
              <a:t>x := 5;</a:t>
            </a:r>
          </a:p>
          <a:p>
            <a:pPr algn="ctr" rtl="1"/>
            <a:r>
              <a:rPr lang="he-IL" dirty="0"/>
              <a:t>או</a:t>
            </a:r>
          </a:p>
          <a:p>
            <a:pPr algn="ctr" rtl="1"/>
            <a:r>
              <a:rPr lang="en-US" dirty="0"/>
              <a:t>x &lt;- 5;</a:t>
            </a:r>
          </a:p>
        </p:txBody>
      </p:sp>
    </p:spTree>
    <p:extLst>
      <p:ext uri="{BB962C8B-B14F-4D97-AF65-F5344CB8AC3E}">
        <p14:creationId xmlns:p14="http://schemas.microsoft.com/office/powerpoint/2010/main" val="1592489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236E248-9E78-B9B0-151F-DF14D9AF1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הצהרה והשמה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57A16137-E6F4-73C0-A8CE-F87F6808A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70" y="517598"/>
            <a:ext cx="6039693" cy="5963482"/>
          </a:xfrm>
          <a:prstGeom prst="rect">
            <a:avLst/>
          </a:prstGeom>
        </p:spPr>
      </p:pic>
      <p:cxnSp>
        <p:nvCxnSpPr>
          <p:cNvPr id="4" name="מחבר: מרפקי 3">
            <a:extLst>
              <a:ext uri="{FF2B5EF4-FFF2-40B4-BE49-F238E27FC236}">
                <a16:creationId xmlns:a16="http://schemas.microsoft.com/office/drawing/2014/main" id="{D60E1CF2-AD78-AC0C-5160-DFD0D4951A7B}"/>
              </a:ext>
            </a:extLst>
          </p:cNvPr>
          <p:cNvCxnSpPr>
            <a:cxnSpLocks/>
          </p:cNvCxnSpPr>
          <p:nvPr/>
        </p:nvCxnSpPr>
        <p:spPr>
          <a:xfrm rot="10800000" flipV="1">
            <a:off x="2622621" y="3014506"/>
            <a:ext cx="4270549" cy="1"/>
          </a:xfrm>
          <a:prstGeom prst="bent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3D9B13EA-A586-E2A4-310A-16A8E70FFE88}"/>
              </a:ext>
            </a:extLst>
          </p:cNvPr>
          <p:cNvSpPr txBox="1"/>
          <p:nvPr/>
        </p:nvSpPr>
        <p:spPr>
          <a:xfrm>
            <a:off x="6893170" y="2552841"/>
            <a:ext cx="2120201" cy="9233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הצהרה מחדש – אסור (אפילו שזה אותו טיפוס)</a:t>
            </a:r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A4B7392F-0E8F-DC83-A67C-C8F80CB2929A}"/>
              </a:ext>
            </a:extLst>
          </p:cNvPr>
          <p:cNvSpPr/>
          <p:nvPr/>
        </p:nvSpPr>
        <p:spPr>
          <a:xfrm>
            <a:off x="1627833" y="3099916"/>
            <a:ext cx="2461846" cy="2846526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55967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236E248-9E78-B9B0-151F-DF14D9AF1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הצהרה והשמה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57A16137-E6F4-73C0-A8CE-F87F6808A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70" y="517598"/>
            <a:ext cx="6039693" cy="5963482"/>
          </a:xfrm>
          <a:prstGeom prst="rect">
            <a:avLst/>
          </a:prstGeom>
        </p:spPr>
      </p:pic>
      <p:sp>
        <p:nvSpPr>
          <p:cNvPr id="13" name="מלבן 12">
            <a:extLst>
              <a:ext uri="{FF2B5EF4-FFF2-40B4-BE49-F238E27FC236}">
                <a16:creationId xmlns:a16="http://schemas.microsoft.com/office/drawing/2014/main" id="{A4B7392F-0E8F-DC83-A67C-C8F80CB2929A}"/>
              </a:ext>
            </a:extLst>
          </p:cNvPr>
          <p:cNvSpPr/>
          <p:nvPr/>
        </p:nvSpPr>
        <p:spPr>
          <a:xfrm>
            <a:off x="1627833" y="3388248"/>
            <a:ext cx="2461846" cy="2846526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621D5C76-746E-AF5B-A9DF-8F582CCC7B2A}"/>
              </a:ext>
            </a:extLst>
          </p:cNvPr>
          <p:cNvSpPr/>
          <p:nvPr/>
        </p:nvSpPr>
        <p:spPr>
          <a:xfrm>
            <a:off x="1627833" y="2871544"/>
            <a:ext cx="864158" cy="270396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6" name="מחבר: מרפקי 5">
            <a:extLst>
              <a:ext uri="{FF2B5EF4-FFF2-40B4-BE49-F238E27FC236}">
                <a16:creationId xmlns:a16="http://schemas.microsoft.com/office/drawing/2014/main" id="{CFCFC36B-DFA5-091A-E587-3B1CB6190387}"/>
              </a:ext>
            </a:extLst>
          </p:cNvPr>
          <p:cNvCxnSpPr>
            <a:cxnSpLocks/>
          </p:cNvCxnSpPr>
          <p:nvPr/>
        </p:nvCxnSpPr>
        <p:spPr>
          <a:xfrm rot="10800000" flipV="1">
            <a:off x="2532185" y="2505108"/>
            <a:ext cx="4270549" cy="1"/>
          </a:xfrm>
          <a:prstGeom prst="bentConnector3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1EE05D42-54B0-3A6D-2B25-C4E8D6CC5AA1}"/>
              </a:ext>
            </a:extLst>
          </p:cNvPr>
          <p:cNvSpPr txBox="1"/>
          <p:nvPr/>
        </p:nvSpPr>
        <p:spPr>
          <a:xfrm>
            <a:off x="6802734" y="2320442"/>
            <a:ext cx="2120201" cy="36933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הצהרה – טיפוס ושם</a:t>
            </a:r>
          </a:p>
        </p:txBody>
      </p:sp>
      <p:cxnSp>
        <p:nvCxnSpPr>
          <p:cNvPr id="9" name="מחבר: מרפקי 8">
            <a:extLst>
              <a:ext uri="{FF2B5EF4-FFF2-40B4-BE49-F238E27FC236}">
                <a16:creationId xmlns:a16="http://schemas.microsoft.com/office/drawing/2014/main" id="{2FF70DCE-B4BD-34F7-0D50-28D94D87C1AC}"/>
              </a:ext>
            </a:extLst>
          </p:cNvPr>
          <p:cNvCxnSpPr>
            <a:cxnSpLocks/>
          </p:cNvCxnSpPr>
          <p:nvPr/>
        </p:nvCxnSpPr>
        <p:spPr>
          <a:xfrm rot="10800000">
            <a:off x="2532185" y="2718150"/>
            <a:ext cx="4270550" cy="276999"/>
          </a:xfrm>
          <a:prstGeom prst="bentConnector3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8D1C288A-A635-A60F-7D09-AC38F8EA4D9C}"/>
              </a:ext>
            </a:extLst>
          </p:cNvPr>
          <p:cNvSpPr txBox="1"/>
          <p:nvPr/>
        </p:nvSpPr>
        <p:spPr>
          <a:xfrm>
            <a:off x="6802734" y="2810483"/>
            <a:ext cx="2120201" cy="36933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השמה – שם ואז ערך</a:t>
            </a:r>
          </a:p>
        </p:txBody>
      </p:sp>
      <p:cxnSp>
        <p:nvCxnSpPr>
          <p:cNvPr id="11" name="מחבר: מרפקי 10">
            <a:extLst>
              <a:ext uri="{FF2B5EF4-FFF2-40B4-BE49-F238E27FC236}">
                <a16:creationId xmlns:a16="http://schemas.microsoft.com/office/drawing/2014/main" id="{5861E6D2-36A5-F043-FBFE-85B00012A51E}"/>
              </a:ext>
            </a:extLst>
          </p:cNvPr>
          <p:cNvCxnSpPr>
            <a:cxnSpLocks/>
            <a:stCxn id="12" idx="1"/>
          </p:cNvCxnSpPr>
          <p:nvPr/>
        </p:nvCxnSpPr>
        <p:spPr>
          <a:xfrm rot="10800000">
            <a:off x="2532184" y="3287627"/>
            <a:ext cx="4272542" cy="197563"/>
          </a:xfrm>
          <a:prstGeom prst="bentConnector3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5B504CDD-438D-1B44-BEE4-1EF6722EC8B9}"/>
              </a:ext>
            </a:extLst>
          </p:cNvPr>
          <p:cNvSpPr txBox="1"/>
          <p:nvPr/>
        </p:nvSpPr>
        <p:spPr>
          <a:xfrm>
            <a:off x="6804726" y="3300523"/>
            <a:ext cx="2120201" cy="36933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גם השמה</a:t>
            </a:r>
          </a:p>
        </p:txBody>
      </p:sp>
    </p:spTree>
    <p:extLst>
      <p:ext uri="{BB962C8B-B14F-4D97-AF65-F5344CB8AC3E}">
        <p14:creationId xmlns:p14="http://schemas.microsoft.com/office/powerpoint/2010/main" val="33539680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236E248-9E78-B9B0-151F-DF14D9AF1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הצהרה והשמה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57A16137-E6F4-73C0-A8CE-F87F6808A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70" y="517598"/>
            <a:ext cx="6039693" cy="5963482"/>
          </a:xfrm>
          <a:prstGeom prst="rect">
            <a:avLst/>
          </a:prstGeom>
        </p:spPr>
      </p:pic>
      <p:sp>
        <p:nvSpPr>
          <p:cNvPr id="13" name="מלבן 12">
            <a:extLst>
              <a:ext uri="{FF2B5EF4-FFF2-40B4-BE49-F238E27FC236}">
                <a16:creationId xmlns:a16="http://schemas.microsoft.com/office/drawing/2014/main" id="{A4B7392F-0E8F-DC83-A67C-C8F80CB2929A}"/>
              </a:ext>
            </a:extLst>
          </p:cNvPr>
          <p:cNvSpPr/>
          <p:nvPr/>
        </p:nvSpPr>
        <p:spPr>
          <a:xfrm>
            <a:off x="1627833" y="4009292"/>
            <a:ext cx="2461846" cy="2225482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621D5C76-746E-AF5B-A9DF-8F582CCC7B2A}"/>
              </a:ext>
            </a:extLst>
          </p:cNvPr>
          <p:cNvSpPr/>
          <p:nvPr/>
        </p:nvSpPr>
        <p:spPr>
          <a:xfrm>
            <a:off x="1627833" y="2871544"/>
            <a:ext cx="864158" cy="270396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6" name="מחבר: מרפקי 5">
            <a:extLst>
              <a:ext uri="{FF2B5EF4-FFF2-40B4-BE49-F238E27FC236}">
                <a16:creationId xmlns:a16="http://schemas.microsoft.com/office/drawing/2014/main" id="{CFCFC36B-DFA5-091A-E587-3B1CB6190387}"/>
              </a:ext>
            </a:extLst>
          </p:cNvPr>
          <p:cNvCxnSpPr>
            <a:cxnSpLocks/>
          </p:cNvCxnSpPr>
          <p:nvPr/>
        </p:nvCxnSpPr>
        <p:spPr>
          <a:xfrm rot="10800000" flipV="1">
            <a:off x="3084844" y="3836408"/>
            <a:ext cx="4270549" cy="1"/>
          </a:xfrm>
          <a:prstGeom prst="bentConnector3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1EE05D42-54B0-3A6D-2B25-C4E8D6CC5AA1}"/>
              </a:ext>
            </a:extLst>
          </p:cNvPr>
          <p:cNvSpPr txBox="1"/>
          <p:nvPr/>
        </p:nvSpPr>
        <p:spPr>
          <a:xfrm>
            <a:off x="7355393" y="3651742"/>
            <a:ext cx="2120201" cy="36933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הצהרה – טיפוס ושם</a:t>
            </a:r>
          </a:p>
        </p:txBody>
      </p:sp>
    </p:spTree>
    <p:extLst>
      <p:ext uri="{BB962C8B-B14F-4D97-AF65-F5344CB8AC3E}">
        <p14:creationId xmlns:p14="http://schemas.microsoft.com/office/powerpoint/2010/main" val="35510750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236E248-9E78-B9B0-151F-DF14D9AF1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הצהרה והשמה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57A16137-E6F4-73C0-A8CE-F87F6808A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70" y="517598"/>
            <a:ext cx="6039693" cy="5963482"/>
          </a:xfrm>
          <a:prstGeom prst="rect">
            <a:avLst/>
          </a:prstGeom>
        </p:spPr>
      </p:pic>
      <p:sp>
        <p:nvSpPr>
          <p:cNvPr id="13" name="מלבן 12">
            <a:extLst>
              <a:ext uri="{FF2B5EF4-FFF2-40B4-BE49-F238E27FC236}">
                <a16:creationId xmlns:a16="http://schemas.microsoft.com/office/drawing/2014/main" id="{A4B7392F-0E8F-DC83-A67C-C8F80CB2929A}"/>
              </a:ext>
            </a:extLst>
          </p:cNvPr>
          <p:cNvSpPr/>
          <p:nvPr/>
        </p:nvSpPr>
        <p:spPr>
          <a:xfrm>
            <a:off x="1627833" y="4411226"/>
            <a:ext cx="2461846" cy="1823548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621D5C76-746E-AF5B-A9DF-8F582CCC7B2A}"/>
              </a:ext>
            </a:extLst>
          </p:cNvPr>
          <p:cNvSpPr/>
          <p:nvPr/>
        </p:nvSpPr>
        <p:spPr>
          <a:xfrm>
            <a:off x="1627833" y="2871544"/>
            <a:ext cx="864158" cy="270396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6" name="מחבר: מרפקי 5">
            <a:extLst>
              <a:ext uri="{FF2B5EF4-FFF2-40B4-BE49-F238E27FC236}">
                <a16:creationId xmlns:a16="http://schemas.microsoft.com/office/drawing/2014/main" id="{CFCFC36B-DFA5-091A-E587-3B1CB6190387}"/>
              </a:ext>
            </a:extLst>
          </p:cNvPr>
          <p:cNvCxnSpPr>
            <a:cxnSpLocks/>
          </p:cNvCxnSpPr>
          <p:nvPr/>
        </p:nvCxnSpPr>
        <p:spPr>
          <a:xfrm rot="10800000" flipV="1">
            <a:off x="3084844" y="3836408"/>
            <a:ext cx="4270549" cy="1"/>
          </a:xfrm>
          <a:prstGeom prst="bentConnector3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1EE05D42-54B0-3A6D-2B25-C4E8D6CC5AA1}"/>
              </a:ext>
            </a:extLst>
          </p:cNvPr>
          <p:cNvSpPr txBox="1"/>
          <p:nvPr/>
        </p:nvSpPr>
        <p:spPr>
          <a:xfrm>
            <a:off x="7355393" y="3651742"/>
            <a:ext cx="2120201" cy="36933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הצהרה – טיפוס ושם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C96943F9-D447-FCE9-58E4-DAF56F22B7F4}"/>
              </a:ext>
            </a:extLst>
          </p:cNvPr>
          <p:cNvSpPr txBox="1"/>
          <p:nvPr/>
        </p:nvSpPr>
        <p:spPr>
          <a:xfrm>
            <a:off x="7355392" y="4123816"/>
            <a:ext cx="2120201" cy="36933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השמה – שם ואז ערך</a:t>
            </a:r>
          </a:p>
        </p:txBody>
      </p:sp>
      <p:cxnSp>
        <p:nvCxnSpPr>
          <p:cNvPr id="8" name="מחבר: מרפקי 7">
            <a:extLst>
              <a:ext uri="{FF2B5EF4-FFF2-40B4-BE49-F238E27FC236}">
                <a16:creationId xmlns:a16="http://schemas.microsoft.com/office/drawing/2014/main" id="{1AA044DB-A46A-AE14-B5CD-9DFDFE4B84FE}"/>
              </a:ext>
            </a:extLst>
          </p:cNvPr>
          <p:cNvCxnSpPr>
            <a:cxnSpLocks/>
          </p:cNvCxnSpPr>
          <p:nvPr/>
        </p:nvCxnSpPr>
        <p:spPr>
          <a:xfrm rot="10800000">
            <a:off x="3084843" y="4092856"/>
            <a:ext cx="4270552" cy="215623"/>
          </a:xfrm>
          <a:prstGeom prst="bentConnector3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3418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236E248-9E78-B9B0-151F-DF14D9AF1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הצהרה והשמה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57A16137-E6F4-73C0-A8CE-F87F6808A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70" y="517598"/>
            <a:ext cx="6039693" cy="5963482"/>
          </a:xfrm>
          <a:prstGeom prst="rect">
            <a:avLst/>
          </a:prstGeom>
        </p:spPr>
      </p:pic>
      <p:sp>
        <p:nvSpPr>
          <p:cNvPr id="13" name="מלבן 12">
            <a:extLst>
              <a:ext uri="{FF2B5EF4-FFF2-40B4-BE49-F238E27FC236}">
                <a16:creationId xmlns:a16="http://schemas.microsoft.com/office/drawing/2014/main" id="{A4B7392F-0E8F-DC83-A67C-C8F80CB2929A}"/>
              </a:ext>
            </a:extLst>
          </p:cNvPr>
          <p:cNvSpPr/>
          <p:nvPr/>
        </p:nvSpPr>
        <p:spPr>
          <a:xfrm>
            <a:off x="1627833" y="4772968"/>
            <a:ext cx="2461846" cy="1461806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621D5C76-746E-AF5B-A9DF-8F582CCC7B2A}"/>
              </a:ext>
            </a:extLst>
          </p:cNvPr>
          <p:cNvSpPr/>
          <p:nvPr/>
        </p:nvSpPr>
        <p:spPr>
          <a:xfrm>
            <a:off x="1627833" y="2871544"/>
            <a:ext cx="864158" cy="270396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6" name="מחבר: מרפקי 5">
            <a:extLst>
              <a:ext uri="{FF2B5EF4-FFF2-40B4-BE49-F238E27FC236}">
                <a16:creationId xmlns:a16="http://schemas.microsoft.com/office/drawing/2014/main" id="{CFCFC36B-DFA5-091A-E587-3B1CB6190387}"/>
              </a:ext>
            </a:extLst>
          </p:cNvPr>
          <p:cNvCxnSpPr>
            <a:cxnSpLocks/>
          </p:cNvCxnSpPr>
          <p:nvPr/>
        </p:nvCxnSpPr>
        <p:spPr>
          <a:xfrm rot="10800000" flipV="1">
            <a:off x="3084844" y="3836408"/>
            <a:ext cx="4270549" cy="1"/>
          </a:xfrm>
          <a:prstGeom prst="bentConnector3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1EE05D42-54B0-3A6D-2B25-C4E8D6CC5AA1}"/>
              </a:ext>
            </a:extLst>
          </p:cNvPr>
          <p:cNvSpPr txBox="1"/>
          <p:nvPr/>
        </p:nvSpPr>
        <p:spPr>
          <a:xfrm>
            <a:off x="7355393" y="3651742"/>
            <a:ext cx="2120201" cy="36933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הצהרה – טיפוס ושם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C96943F9-D447-FCE9-58E4-DAF56F22B7F4}"/>
              </a:ext>
            </a:extLst>
          </p:cNvPr>
          <p:cNvSpPr txBox="1"/>
          <p:nvPr/>
        </p:nvSpPr>
        <p:spPr>
          <a:xfrm>
            <a:off x="7355392" y="4123816"/>
            <a:ext cx="2120201" cy="36933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השמה – שם ואז ערך</a:t>
            </a:r>
          </a:p>
        </p:txBody>
      </p:sp>
      <p:cxnSp>
        <p:nvCxnSpPr>
          <p:cNvPr id="8" name="מחבר: מרפקי 7">
            <a:extLst>
              <a:ext uri="{FF2B5EF4-FFF2-40B4-BE49-F238E27FC236}">
                <a16:creationId xmlns:a16="http://schemas.microsoft.com/office/drawing/2014/main" id="{1AA044DB-A46A-AE14-B5CD-9DFDFE4B84FE}"/>
              </a:ext>
            </a:extLst>
          </p:cNvPr>
          <p:cNvCxnSpPr>
            <a:cxnSpLocks/>
          </p:cNvCxnSpPr>
          <p:nvPr/>
        </p:nvCxnSpPr>
        <p:spPr>
          <a:xfrm rot="10800000">
            <a:off x="3084843" y="4092856"/>
            <a:ext cx="4270552" cy="215623"/>
          </a:xfrm>
          <a:prstGeom prst="bentConnector3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31D7A2DA-BD27-0EF1-0A04-D68A6E558F61}"/>
              </a:ext>
            </a:extLst>
          </p:cNvPr>
          <p:cNvSpPr txBox="1"/>
          <p:nvPr/>
        </p:nvSpPr>
        <p:spPr>
          <a:xfrm>
            <a:off x="7355392" y="4645709"/>
            <a:ext cx="2120201" cy="9233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הצהרה מחדש – אסור (אפילו שזה טיפוס אחר)</a:t>
            </a:r>
          </a:p>
        </p:txBody>
      </p:sp>
      <p:cxnSp>
        <p:nvCxnSpPr>
          <p:cNvPr id="10" name="מחבר: מרפקי 9">
            <a:extLst>
              <a:ext uri="{FF2B5EF4-FFF2-40B4-BE49-F238E27FC236}">
                <a16:creationId xmlns:a16="http://schemas.microsoft.com/office/drawing/2014/main" id="{0C924266-7818-AA43-ACA2-CD3BB0D9EF44}"/>
              </a:ext>
            </a:extLst>
          </p:cNvPr>
          <p:cNvCxnSpPr>
            <a:cxnSpLocks/>
            <a:stCxn id="9" idx="1"/>
          </p:cNvCxnSpPr>
          <p:nvPr/>
        </p:nvCxnSpPr>
        <p:spPr>
          <a:xfrm rot="10800000">
            <a:off x="3084842" y="4645710"/>
            <a:ext cx="4270550" cy="461665"/>
          </a:xfrm>
          <a:prstGeom prst="bent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49164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236E248-9E78-B9B0-151F-DF14D9AF1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הצהרה והשמה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57A16137-E6F4-73C0-A8CE-F87F6808A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70" y="517598"/>
            <a:ext cx="6039693" cy="5963482"/>
          </a:xfrm>
          <a:prstGeom prst="rect">
            <a:avLst/>
          </a:prstGeom>
        </p:spPr>
      </p:pic>
      <p:sp>
        <p:nvSpPr>
          <p:cNvPr id="13" name="מלבן 12">
            <a:extLst>
              <a:ext uri="{FF2B5EF4-FFF2-40B4-BE49-F238E27FC236}">
                <a16:creationId xmlns:a16="http://schemas.microsoft.com/office/drawing/2014/main" id="{A4B7392F-0E8F-DC83-A67C-C8F80CB2929A}"/>
              </a:ext>
            </a:extLst>
          </p:cNvPr>
          <p:cNvSpPr/>
          <p:nvPr/>
        </p:nvSpPr>
        <p:spPr>
          <a:xfrm>
            <a:off x="1627833" y="5304396"/>
            <a:ext cx="2461846" cy="930378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621D5C76-746E-AF5B-A9DF-8F582CCC7B2A}"/>
              </a:ext>
            </a:extLst>
          </p:cNvPr>
          <p:cNvSpPr/>
          <p:nvPr/>
        </p:nvSpPr>
        <p:spPr>
          <a:xfrm>
            <a:off x="1627833" y="2871544"/>
            <a:ext cx="864158" cy="270396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6" name="מחבר: מרפקי 5">
            <a:extLst>
              <a:ext uri="{FF2B5EF4-FFF2-40B4-BE49-F238E27FC236}">
                <a16:creationId xmlns:a16="http://schemas.microsoft.com/office/drawing/2014/main" id="{CFCFC36B-DFA5-091A-E587-3B1CB6190387}"/>
              </a:ext>
            </a:extLst>
          </p:cNvPr>
          <p:cNvCxnSpPr>
            <a:cxnSpLocks/>
          </p:cNvCxnSpPr>
          <p:nvPr/>
        </p:nvCxnSpPr>
        <p:spPr>
          <a:xfrm rot="10800000" flipV="1">
            <a:off x="3084844" y="3836408"/>
            <a:ext cx="4270549" cy="1"/>
          </a:xfrm>
          <a:prstGeom prst="bentConnector3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1EE05D42-54B0-3A6D-2B25-C4E8D6CC5AA1}"/>
              </a:ext>
            </a:extLst>
          </p:cNvPr>
          <p:cNvSpPr txBox="1"/>
          <p:nvPr/>
        </p:nvSpPr>
        <p:spPr>
          <a:xfrm>
            <a:off x="7355393" y="3651742"/>
            <a:ext cx="2120201" cy="36933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הצהרה – טיפוס ושם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C96943F9-D447-FCE9-58E4-DAF56F22B7F4}"/>
              </a:ext>
            </a:extLst>
          </p:cNvPr>
          <p:cNvSpPr txBox="1"/>
          <p:nvPr/>
        </p:nvSpPr>
        <p:spPr>
          <a:xfrm>
            <a:off x="7355392" y="4123816"/>
            <a:ext cx="2120201" cy="36933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השמה – שם ואז ערך</a:t>
            </a:r>
          </a:p>
        </p:txBody>
      </p:sp>
      <p:cxnSp>
        <p:nvCxnSpPr>
          <p:cNvPr id="8" name="מחבר: מרפקי 7">
            <a:extLst>
              <a:ext uri="{FF2B5EF4-FFF2-40B4-BE49-F238E27FC236}">
                <a16:creationId xmlns:a16="http://schemas.microsoft.com/office/drawing/2014/main" id="{1AA044DB-A46A-AE14-B5CD-9DFDFE4B84FE}"/>
              </a:ext>
            </a:extLst>
          </p:cNvPr>
          <p:cNvCxnSpPr>
            <a:cxnSpLocks/>
          </p:cNvCxnSpPr>
          <p:nvPr/>
        </p:nvCxnSpPr>
        <p:spPr>
          <a:xfrm rot="10800000">
            <a:off x="3084843" y="4092856"/>
            <a:ext cx="4270552" cy="215623"/>
          </a:xfrm>
          <a:prstGeom prst="bentConnector3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31D7A2DA-BD27-0EF1-0A04-D68A6E558F61}"/>
              </a:ext>
            </a:extLst>
          </p:cNvPr>
          <p:cNvSpPr txBox="1"/>
          <p:nvPr/>
        </p:nvSpPr>
        <p:spPr>
          <a:xfrm>
            <a:off x="7355392" y="4645709"/>
            <a:ext cx="2120201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ההשמה לא מתאימה לטיפוס של המשתנה</a:t>
            </a:r>
          </a:p>
        </p:txBody>
      </p:sp>
      <p:cxnSp>
        <p:nvCxnSpPr>
          <p:cNvPr id="10" name="מחבר: מרפקי 9">
            <a:extLst>
              <a:ext uri="{FF2B5EF4-FFF2-40B4-BE49-F238E27FC236}">
                <a16:creationId xmlns:a16="http://schemas.microsoft.com/office/drawing/2014/main" id="{0C924266-7818-AA43-ACA2-CD3BB0D9EF44}"/>
              </a:ext>
            </a:extLst>
          </p:cNvPr>
          <p:cNvCxnSpPr>
            <a:cxnSpLocks/>
            <a:stCxn id="9" idx="1"/>
          </p:cNvCxnSpPr>
          <p:nvPr/>
        </p:nvCxnSpPr>
        <p:spPr>
          <a:xfrm rot="10800000">
            <a:off x="3084844" y="4891751"/>
            <a:ext cx="4270549" cy="77125"/>
          </a:xfrm>
          <a:prstGeom prst="bentConnector3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מלבן 11">
            <a:extLst>
              <a:ext uri="{FF2B5EF4-FFF2-40B4-BE49-F238E27FC236}">
                <a16:creationId xmlns:a16="http://schemas.microsoft.com/office/drawing/2014/main" id="{92E1B39F-278D-87C1-5285-1FF651C3E5E3}"/>
              </a:ext>
            </a:extLst>
          </p:cNvPr>
          <p:cNvSpPr/>
          <p:nvPr/>
        </p:nvSpPr>
        <p:spPr>
          <a:xfrm>
            <a:off x="1627833" y="4530927"/>
            <a:ext cx="1457006" cy="270393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36791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236E248-9E78-B9B0-151F-DF14D9AF1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הצהרה והשמה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57A16137-E6F4-73C0-A8CE-F87F6808A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70" y="517598"/>
            <a:ext cx="6039693" cy="5963482"/>
          </a:xfrm>
          <a:prstGeom prst="rect">
            <a:avLst/>
          </a:prstGeom>
        </p:spPr>
      </p:pic>
      <p:sp>
        <p:nvSpPr>
          <p:cNvPr id="13" name="מלבן 12">
            <a:extLst>
              <a:ext uri="{FF2B5EF4-FFF2-40B4-BE49-F238E27FC236}">
                <a16:creationId xmlns:a16="http://schemas.microsoft.com/office/drawing/2014/main" id="{A4B7392F-0E8F-DC83-A67C-C8F80CB2929A}"/>
              </a:ext>
            </a:extLst>
          </p:cNvPr>
          <p:cNvSpPr/>
          <p:nvPr/>
        </p:nvSpPr>
        <p:spPr>
          <a:xfrm>
            <a:off x="1698171" y="4558578"/>
            <a:ext cx="1155561" cy="5191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621D5C76-746E-AF5B-A9DF-8F582CCC7B2A}"/>
              </a:ext>
            </a:extLst>
          </p:cNvPr>
          <p:cNvSpPr/>
          <p:nvPr/>
        </p:nvSpPr>
        <p:spPr>
          <a:xfrm>
            <a:off x="1627833" y="2871544"/>
            <a:ext cx="864158" cy="270396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6" name="מחבר: מרפקי 5">
            <a:extLst>
              <a:ext uri="{FF2B5EF4-FFF2-40B4-BE49-F238E27FC236}">
                <a16:creationId xmlns:a16="http://schemas.microsoft.com/office/drawing/2014/main" id="{CFCFC36B-DFA5-091A-E587-3B1CB6190387}"/>
              </a:ext>
            </a:extLst>
          </p:cNvPr>
          <p:cNvCxnSpPr>
            <a:cxnSpLocks/>
          </p:cNvCxnSpPr>
          <p:nvPr/>
        </p:nvCxnSpPr>
        <p:spPr>
          <a:xfrm rot="10800000" flipV="1">
            <a:off x="3084844" y="3836408"/>
            <a:ext cx="4270549" cy="1"/>
          </a:xfrm>
          <a:prstGeom prst="bentConnector3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1EE05D42-54B0-3A6D-2B25-C4E8D6CC5AA1}"/>
              </a:ext>
            </a:extLst>
          </p:cNvPr>
          <p:cNvSpPr txBox="1"/>
          <p:nvPr/>
        </p:nvSpPr>
        <p:spPr>
          <a:xfrm>
            <a:off x="7355393" y="3651742"/>
            <a:ext cx="2120201" cy="36933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הצהרה – טיפוס ושם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C96943F9-D447-FCE9-58E4-DAF56F22B7F4}"/>
              </a:ext>
            </a:extLst>
          </p:cNvPr>
          <p:cNvSpPr txBox="1"/>
          <p:nvPr/>
        </p:nvSpPr>
        <p:spPr>
          <a:xfrm>
            <a:off x="7355392" y="4123816"/>
            <a:ext cx="2120201" cy="36933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השמה – שם ואז ערך</a:t>
            </a:r>
          </a:p>
        </p:txBody>
      </p:sp>
      <p:cxnSp>
        <p:nvCxnSpPr>
          <p:cNvPr id="8" name="מחבר: מרפקי 7">
            <a:extLst>
              <a:ext uri="{FF2B5EF4-FFF2-40B4-BE49-F238E27FC236}">
                <a16:creationId xmlns:a16="http://schemas.microsoft.com/office/drawing/2014/main" id="{1AA044DB-A46A-AE14-B5CD-9DFDFE4B84FE}"/>
              </a:ext>
            </a:extLst>
          </p:cNvPr>
          <p:cNvCxnSpPr>
            <a:cxnSpLocks/>
          </p:cNvCxnSpPr>
          <p:nvPr/>
        </p:nvCxnSpPr>
        <p:spPr>
          <a:xfrm rot="10800000">
            <a:off x="3084843" y="4092856"/>
            <a:ext cx="4270552" cy="215623"/>
          </a:xfrm>
          <a:prstGeom prst="bentConnector3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מלבן 11">
            <a:extLst>
              <a:ext uri="{FF2B5EF4-FFF2-40B4-BE49-F238E27FC236}">
                <a16:creationId xmlns:a16="http://schemas.microsoft.com/office/drawing/2014/main" id="{92E1B39F-278D-87C1-5285-1FF651C3E5E3}"/>
              </a:ext>
            </a:extLst>
          </p:cNvPr>
          <p:cNvSpPr/>
          <p:nvPr/>
        </p:nvSpPr>
        <p:spPr>
          <a:xfrm>
            <a:off x="1627833" y="4530927"/>
            <a:ext cx="1457006" cy="270393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11" name="מחבר: מרפקי 10">
            <a:extLst>
              <a:ext uri="{FF2B5EF4-FFF2-40B4-BE49-F238E27FC236}">
                <a16:creationId xmlns:a16="http://schemas.microsoft.com/office/drawing/2014/main" id="{2AE71649-FDC4-16C9-D900-610FDC06E3EF}"/>
              </a:ext>
            </a:extLst>
          </p:cNvPr>
          <p:cNvCxnSpPr>
            <a:cxnSpLocks/>
            <a:stCxn id="14" idx="1"/>
          </p:cNvCxnSpPr>
          <p:nvPr/>
        </p:nvCxnSpPr>
        <p:spPr>
          <a:xfrm rot="10800000" flipV="1">
            <a:off x="3084839" y="5104319"/>
            <a:ext cx="4270552" cy="391517"/>
          </a:xfrm>
          <a:prstGeom prst="bentConnector3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C1806F73-468D-403E-05D3-6E38CF30F8E2}"/>
              </a:ext>
            </a:extLst>
          </p:cNvPr>
          <p:cNvSpPr txBox="1"/>
          <p:nvPr/>
        </p:nvSpPr>
        <p:spPr>
          <a:xfrm>
            <a:off x="7355391" y="4642655"/>
            <a:ext cx="2120201" cy="92333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הצהרה והשמה באותה שורה – תחביר מקוצר</a:t>
            </a:r>
          </a:p>
        </p:txBody>
      </p:sp>
      <p:sp>
        <p:nvSpPr>
          <p:cNvPr id="19" name="תיבת טקסט 18">
            <a:extLst>
              <a:ext uri="{FF2B5EF4-FFF2-40B4-BE49-F238E27FC236}">
                <a16:creationId xmlns:a16="http://schemas.microsoft.com/office/drawing/2014/main" id="{FF3A54D6-2EB4-B021-0A98-6C51ACCC26A1}"/>
              </a:ext>
            </a:extLst>
          </p:cNvPr>
          <p:cNvSpPr txBox="1"/>
          <p:nvPr/>
        </p:nvSpPr>
        <p:spPr>
          <a:xfrm>
            <a:off x="7394954" y="5858460"/>
            <a:ext cx="2120201" cy="36933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השמה – שם ואז ערך</a:t>
            </a:r>
          </a:p>
        </p:txBody>
      </p:sp>
      <p:cxnSp>
        <p:nvCxnSpPr>
          <p:cNvPr id="20" name="מחבר: מרפקי 19">
            <a:extLst>
              <a:ext uri="{FF2B5EF4-FFF2-40B4-BE49-F238E27FC236}">
                <a16:creationId xmlns:a16="http://schemas.microsoft.com/office/drawing/2014/main" id="{222FAC83-185B-4311-018A-65ECBD25D851}"/>
              </a:ext>
            </a:extLst>
          </p:cNvPr>
          <p:cNvCxnSpPr>
            <a:cxnSpLocks/>
          </p:cNvCxnSpPr>
          <p:nvPr/>
        </p:nvCxnSpPr>
        <p:spPr>
          <a:xfrm rot="10800000">
            <a:off x="2491991" y="5798836"/>
            <a:ext cx="4902966" cy="244288"/>
          </a:xfrm>
          <a:prstGeom prst="bentConnector3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11135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FDA4877-3B25-2A6B-1573-F662E15AC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משתנה </a:t>
            </a:r>
            <a:r>
              <a:rPr lang="en-US" dirty="0"/>
              <a:t>int</a:t>
            </a:r>
            <a:endParaRPr lang="he-IL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7FFAE198-967E-C9E0-694C-C883BCAD9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9" y="156706"/>
            <a:ext cx="6192114" cy="654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306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FDA4877-3B25-2A6B-1573-F662E15AC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משתנה </a:t>
            </a:r>
            <a:r>
              <a:rPr lang="en-US" dirty="0"/>
              <a:t>double</a:t>
            </a:r>
            <a:endParaRPr lang="he-IL"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AEE78BAC-8E57-EC32-00D7-C40BEB3CF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36" y="194811"/>
            <a:ext cx="6068272" cy="646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1899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9C695E6-EE20-9FD1-57E6-12D1639DC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ריצה של תוכנית עם משתנים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DF48F65-0B0C-1DC8-4CFD-66397F85C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385835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C7C0841-80A3-A900-E29A-9EC3F9DFB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ג'אווה לדוברות פייתון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9487A37-99C9-5982-E9BA-2BC206BE6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611" y="2140493"/>
            <a:ext cx="8596668" cy="3880773"/>
          </a:xfrm>
        </p:spPr>
        <p:txBody>
          <a:bodyPr/>
          <a:lstStyle/>
          <a:p>
            <a:r>
              <a:rPr lang="he-IL" dirty="0"/>
              <a:t>ג'אווה היא שפת </a:t>
            </a:r>
            <a:r>
              <a:rPr lang="he-IL" u="sng" dirty="0"/>
              <a:t>קומפיילר</a:t>
            </a:r>
            <a:r>
              <a:rPr lang="he-IL" dirty="0"/>
              <a:t> עם </a:t>
            </a:r>
            <a:r>
              <a:rPr lang="he-IL" u="sng" dirty="0"/>
              <a:t>טיפוסיות חזקה:</a:t>
            </a:r>
          </a:p>
          <a:p>
            <a:pPr lvl="1"/>
            <a:r>
              <a:rPr lang="he-IL" dirty="0"/>
              <a:t>על משתנים צריך </a:t>
            </a:r>
            <a:r>
              <a:rPr lang="he-IL" u="sng" dirty="0"/>
              <a:t>להצהיר</a:t>
            </a:r>
            <a:r>
              <a:rPr lang="he-IL" dirty="0"/>
              <a:t> ולהצהיר על </a:t>
            </a:r>
            <a:r>
              <a:rPr lang="he-IL" u="sng" dirty="0"/>
              <a:t>הטיפוס שלהם</a:t>
            </a:r>
            <a:endParaRPr lang="he-IL" dirty="0"/>
          </a:p>
          <a:p>
            <a:pPr lvl="1"/>
            <a:r>
              <a:rPr lang="he-IL" dirty="0"/>
              <a:t>אם מנסים "להכניס" ערך למשתנה שאינו מטיפוס מתאים, הקוד </a:t>
            </a:r>
            <a:r>
              <a:rPr lang="he-IL" u="sng" dirty="0"/>
              <a:t>לא מתקמפל</a:t>
            </a:r>
            <a:r>
              <a:rPr lang="he-IL" dirty="0"/>
              <a:t> ואי אפשר אפילו להתחיל להריץ אותו.</a:t>
            </a:r>
          </a:p>
          <a:p>
            <a:r>
              <a:rPr lang="he-IL" dirty="0"/>
              <a:t>פייתון היא שפת </a:t>
            </a:r>
            <a:r>
              <a:rPr lang="he-IL" u="sng" dirty="0"/>
              <a:t>אינטרפרטר</a:t>
            </a:r>
            <a:r>
              <a:rPr lang="he-IL" dirty="0"/>
              <a:t> עם </a:t>
            </a:r>
            <a:r>
              <a:rPr lang="he-IL" u="sng" dirty="0"/>
              <a:t>טיפוסיות חלשה</a:t>
            </a:r>
            <a:r>
              <a:rPr lang="he-IL" dirty="0"/>
              <a:t>:</a:t>
            </a:r>
          </a:p>
          <a:p>
            <a:pPr lvl="1"/>
            <a:r>
              <a:rPr lang="he-IL" dirty="0"/>
              <a:t>לא צריך להצהיר בה על משתנה- מרגע שיש פקודת השמה (כמו </a:t>
            </a:r>
            <a:r>
              <a:rPr lang="en-US" dirty="0"/>
              <a:t>x=1</a:t>
            </a:r>
            <a:r>
              <a:rPr lang="he-IL" dirty="0"/>
              <a:t>), המשתנה קיים.</a:t>
            </a:r>
          </a:p>
          <a:p>
            <a:pPr lvl="1"/>
            <a:r>
              <a:rPr lang="he-IL" dirty="0"/>
              <a:t>למשתנים לא "מוצמד" טיפוס, שהערך של המשתנה חייב להתאים אליו. הקוד הבא תקין:</a:t>
            </a:r>
          </a:p>
          <a:p>
            <a:pPr marL="914400" lvl="2" indent="0">
              <a:buNone/>
            </a:pPr>
            <a:endParaRPr lang="he-IL" dirty="0"/>
          </a:p>
        </p:txBody>
      </p:sp>
      <p:pic>
        <p:nvPicPr>
          <p:cNvPr id="1026" name="Picture 2" descr="The Python Logo | Python Software Foundation">
            <a:extLst>
              <a:ext uri="{FF2B5EF4-FFF2-40B4-BE49-F238E27FC236}">
                <a16:creationId xmlns:a16="http://schemas.microsoft.com/office/drawing/2014/main" id="{23AE022D-D6CF-D134-F0D0-CBAEB9FA7C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485"/>
          <a:stretch/>
        </p:blipFill>
        <p:spPr bwMode="auto">
          <a:xfrm>
            <a:off x="4225446" y="572312"/>
            <a:ext cx="947668" cy="982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B534FBDF-64F1-2D11-86EF-C8FE6A215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1087" y="4693399"/>
            <a:ext cx="3724795" cy="177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7061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C7C0841-80A3-A900-E29A-9EC3F9DFB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ג'אווה לדוברות פייתון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9487A37-99C9-5982-E9BA-2BC206BE6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611" y="2140493"/>
            <a:ext cx="8596668" cy="3880773"/>
          </a:xfrm>
        </p:spPr>
        <p:txBody>
          <a:bodyPr/>
          <a:lstStyle/>
          <a:p>
            <a:r>
              <a:rPr lang="he-IL" dirty="0"/>
              <a:t>החל </a:t>
            </a:r>
            <a:r>
              <a:rPr lang="he-IL" dirty="0" err="1"/>
              <a:t>מפייתון</a:t>
            </a:r>
            <a:r>
              <a:rPr lang="he-IL" dirty="0"/>
              <a:t> 3, פייתון </a:t>
            </a:r>
            <a:r>
              <a:rPr lang="he-IL" u="sng" dirty="0"/>
              <a:t>תומכת</a:t>
            </a:r>
            <a:r>
              <a:rPr lang="he-IL" dirty="0"/>
              <a:t> בטיפוסיות חזקה, אבל היא בגדר </a:t>
            </a:r>
            <a:r>
              <a:rPr lang="he-IL" u="sng" dirty="0"/>
              <a:t>רשות ולא חובה</a:t>
            </a:r>
            <a:r>
              <a:rPr lang="he-IL" dirty="0"/>
              <a:t>.</a:t>
            </a:r>
          </a:p>
          <a:p>
            <a:r>
              <a:rPr lang="he-IL" u="sng" dirty="0"/>
              <a:t>אפשר</a:t>
            </a:r>
            <a:r>
              <a:rPr lang="he-IL" dirty="0"/>
              <a:t> להצהיר על טיפוס למשתנים, ואז אם הקוד שלנו מבקש להכניס למשתנה ערך מטיפוס לא נכון, תתקבל </a:t>
            </a:r>
            <a:r>
              <a:rPr lang="he-IL" u="sng" dirty="0"/>
              <a:t>אזהרה</a:t>
            </a:r>
            <a:r>
              <a:rPr lang="he-IL" dirty="0"/>
              <a:t> (אבל לא שגיאה, והקוד עדיין ירוץ):</a:t>
            </a:r>
            <a:endParaRPr lang="he-IL" u="sng" dirty="0"/>
          </a:p>
          <a:p>
            <a:pPr marL="914400" lvl="2" indent="0">
              <a:buNone/>
            </a:pPr>
            <a:endParaRPr lang="he-IL" dirty="0"/>
          </a:p>
        </p:txBody>
      </p:sp>
      <p:pic>
        <p:nvPicPr>
          <p:cNvPr id="1026" name="Picture 2" descr="The Python Logo | Python Software Foundation">
            <a:extLst>
              <a:ext uri="{FF2B5EF4-FFF2-40B4-BE49-F238E27FC236}">
                <a16:creationId xmlns:a16="http://schemas.microsoft.com/office/drawing/2014/main" id="{23AE022D-D6CF-D134-F0D0-CBAEB9FA7C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485"/>
          <a:stretch/>
        </p:blipFill>
        <p:spPr bwMode="auto">
          <a:xfrm>
            <a:off x="4225446" y="572312"/>
            <a:ext cx="947668" cy="982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CFE00861-3D83-1B7C-246B-B40D6E8A9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834" y="3959475"/>
            <a:ext cx="2000529" cy="1219370"/>
          </a:xfrm>
          <a:prstGeom prst="rect">
            <a:avLst/>
          </a:prstGeom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D5F497B3-662E-5407-7360-0417074AAD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7325" y="3921370"/>
            <a:ext cx="2133898" cy="1295581"/>
          </a:xfrm>
          <a:prstGeom prst="rect">
            <a:avLst/>
          </a:prstGeom>
        </p:spPr>
      </p:pic>
      <p:pic>
        <p:nvPicPr>
          <p:cNvPr id="1027" name="Picture 3" descr="Java (programming language) - Wikipedia">
            <a:extLst>
              <a:ext uri="{FF2B5EF4-FFF2-40B4-BE49-F238E27FC236}">
                <a16:creationId xmlns:a16="http://schemas.microsoft.com/office/drawing/2014/main" id="{0772F8C3-B229-850C-110B-2203468AD2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110"/>
          <a:stretch/>
        </p:blipFill>
        <p:spPr bwMode="auto">
          <a:xfrm>
            <a:off x="3119128" y="3502275"/>
            <a:ext cx="715347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The Python Logo | Python Software Foundation">
            <a:extLst>
              <a:ext uri="{FF2B5EF4-FFF2-40B4-BE49-F238E27FC236}">
                <a16:creationId xmlns:a16="http://schemas.microsoft.com/office/drawing/2014/main" id="{A5DF0CA9-D5D5-5BC6-FC4B-04910F7124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485"/>
          <a:stretch/>
        </p:blipFill>
        <p:spPr bwMode="auto">
          <a:xfrm>
            <a:off x="8185201" y="3502275"/>
            <a:ext cx="882323" cy="914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מחבר ישר 11">
            <a:extLst>
              <a:ext uri="{FF2B5EF4-FFF2-40B4-BE49-F238E27FC236}">
                <a16:creationId xmlns:a16="http://schemas.microsoft.com/office/drawing/2014/main" id="{94A0BA71-F7BD-8EC6-2A0A-CD1FB8428E50}"/>
              </a:ext>
            </a:extLst>
          </p:cNvPr>
          <p:cNvCxnSpPr/>
          <p:nvPr/>
        </p:nvCxnSpPr>
        <p:spPr>
          <a:xfrm>
            <a:off x="2039815" y="5178845"/>
            <a:ext cx="141681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מחבר ישר 12">
            <a:extLst>
              <a:ext uri="{FF2B5EF4-FFF2-40B4-BE49-F238E27FC236}">
                <a16:creationId xmlns:a16="http://schemas.microsoft.com/office/drawing/2014/main" id="{DCF03615-316C-3DDD-F29D-9E684D584AF0}"/>
              </a:ext>
            </a:extLst>
          </p:cNvPr>
          <p:cNvCxnSpPr/>
          <p:nvPr/>
        </p:nvCxnSpPr>
        <p:spPr>
          <a:xfrm>
            <a:off x="7209545" y="5178845"/>
            <a:ext cx="1416818" cy="0"/>
          </a:xfrm>
          <a:prstGeom prst="line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B30E098F-139F-5527-1C09-81BA289187B8}"/>
              </a:ext>
            </a:extLst>
          </p:cNvPr>
          <p:cNvSpPr txBox="1"/>
          <p:nvPr/>
        </p:nvSpPr>
        <p:spPr>
          <a:xfrm>
            <a:off x="6798527" y="5284634"/>
            <a:ext cx="1823629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אזהרה</a:t>
            </a:r>
            <a:r>
              <a:rPr lang="he-IL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– לא מונעת הרצה</a:t>
            </a:r>
            <a:endParaRPr lang="he-IL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8232FA75-18B5-E2B0-58F4-3B818CA63BE8}"/>
              </a:ext>
            </a:extLst>
          </p:cNvPr>
          <p:cNvSpPr txBox="1"/>
          <p:nvPr/>
        </p:nvSpPr>
        <p:spPr>
          <a:xfrm>
            <a:off x="1648895" y="5276093"/>
            <a:ext cx="1823629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b="1" dirty="0">
                <a:solidFill>
                  <a:srgbClr val="FF0000"/>
                </a:solidFill>
              </a:rPr>
              <a:t>שגיאה – </a:t>
            </a:r>
            <a:r>
              <a:rPr lang="he-IL" dirty="0">
                <a:solidFill>
                  <a:srgbClr val="FF0000"/>
                </a:solidFill>
              </a:rPr>
              <a:t>לא ניתן לקמפל</a:t>
            </a:r>
            <a:endParaRPr lang="he-IL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4428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FDA4877-3B25-2A6B-1573-F662E15AC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אריתמטיקה</a:t>
            </a:r>
          </a:p>
        </p:txBody>
      </p:sp>
      <p:pic>
        <p:nvPicPr>
          <p:cNvPr id="5" name="מציין מיקום תוכן 4">
            <a:extLst>
              <a:ext uri="{FF2B5EF4-FFF2-40B4-BE49-F238E27FC236}">
                <a16:creationId xmlns:a16="http://schemas.microsoft.com/office/drawing/2014/main" id="{AE60BC05-CD76-B74C-583B-447E11E85B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9972" y="1463885"/>
            <a:ext cx="7532094" cy="5274844"/>
          </a:xfrm>
        </p:spPr>
      </p:pic>
      <p:sp>
        <p:nvSpPr>
          <p:cNvPr id="3" name="מלבן 2">
            <a:extLst>
              <a:ext uri="{FF2B5EF4-FFF2-40B4-BE49-F238E27FC236}">
                <a16:creationId xmlns:a16="http://schemas.microsoft.com/office/drawing/2014/main" id="{64C9B0AB-1F39-852F-D9EE-CB40A98759E6}"/>
              </a:ext>
            </a:extLst>
          </p:cNvPr>
          <p:cNvSpPr/>
          <p:nvPr/>
        </p:nvSpPr>
        <p:spPr>
          <a:xfrm>
            <a:off x="8912888" y="3103266"/>
            <a:ext cx="2853732" cy="28336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he-IL" dirty="0"/>
              <a:t>יש את ארבע פעולות החשבון ומתקיים סדר הפעולות שלמדנו ביסודי.</a:t>
            </a:r>
          </a:p>
          <a:p>
            <a:pPr algn="ctr" rtl="1"/>
            <a:endParaRPr lang="he-IL" dirty="0"/>
          </a:p>
          <a:p>
            <a:pPr algn="ctr" rtl="1"/>
            <a:r>
              <a:rPr lang="he-IL" dirty="0"/>
              <a:t>אין לנו סימון כזה לחזקה - </a:t>
            </a:r>
            <a:r>
              <a:rPr lang="en-US" dirty="0" err="1"/>
              <a:t>x^y</a:t>
            </a:r>
            <a:r>
              <a:rPr lang="he-IL" dirty="0"/>
              <a:t> למספרים קיים, אבל הוא לא חזקה – הוא משהו אחר שאנחנו לא נכנסים אליו.</a:t>
            </a:r>
          </a:p>
        </p:txBody>
      </p:sp>
    </p:spTree>
    <p:extLst>
      <p:ext uri="{BB962C8B-B14F-4D97-AF65-F5344CB8AC3E}">
        <p14:creationId xmlns:p14="http://schemas.microsoft.com/office/powerpoint/2010/main" val="3470914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D06CC78-BA49-7BF3-0E83-3F42C1F7D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 err="1"/>
              <a:t>קאסטינג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A5567AA-D682-0270-9BB5-38419C262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המרה בין טיפוסים – מתבצעת עם סוגריים שם הטיפוס לפני הדבר שאותו ממירים</a:t>
            </a:r>
          </a:p>
          <a:p>
            <a:endParaRPr lang="he-IL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9048F174-073F-5ED5-F834-E2F00B136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724" y="2840515"/>
            <a:ext cx="5953956" cy="32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5207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D06CC78-BA49-7BF3-0E83-3F42C1F7D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 err="1"/>
              <a:t>קאסטינג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A5567AA-D682-0270-9BB5-38419C262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המרה בין טיפוסים – מתבצעת עם סוגריים שם הטיפוס לפני הדבר שאותו ממירים</a:t>
            </a:r>
          </a:p>
          <a:p>
            <a:r>
              <a:rPr lang="he-IL" dirty="0"/>
              <a:t>מ-</a:t>
            </a:r>
            <a:r>
              <a:rPr lang="en-US" dirty="0"/>
              <a:t>int</a:t>
            </a:r>
            <a:r>
              <a:rPr lang="he-IL" dirty="0"/>
              <a:t> ל-</a:t>
            </a:r>
            <a:r>
              <a:rPr lang="en-US" dirty="0"/>
              <a:t>double</a:t>
            </a:r>
            <a:r>
              <a:rPr lang="he-IL" dirty="0"/>
              <a:t> לא חייבים לציין בפירוש</a:t>
            </a:r>
          </a:p>
          <a:p>
            <a:endParaRPr lang="he-IL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9048F174-073F-5ED5-F834-E2F00B136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676" y="3070704"/>
            <a:ext cx="5953956" cy="3200847"/>
          </a:xfrm>
          <a:prstGeom prst="rect">
            <a:avLst/>
          </a:prstGeom>
        </p:spPr>
      </p:pic>
      <p:sp>
        <p:nvSpPr>
          <p:cNvPr id="4" name="מלבן 3">
            <a:extLst>
              <a:ext uri="{FF2B5EF4-FFF2-40B4-BE49-F238E27FC236}">
                <a16:creationId xmlns:a16="http://schemas.microsoft.com/office/drawing/2014/main" id="{E7A62505-5978-EC64-3407-CB99B36AB01F}"/>
              </a:ext>
            </a:extLst>
          </p:cNvPr>
          <p:cNvSpPr/>
          <p:nvPr/>
        </p:nvSpPr>
        <p:spPr>
          <a:xfrm>
            <a:off x="3413091" y="5395042"/>
            <a:ext cx="1065126" cy="321547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051157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D06CC78-BA49-7BF3-0E83-3F42C1F7D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 err="1"/>
              <a:t>קאסטינג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A5567AA-D682-0270-9BB5-38419C262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המרה בין טיפוסים – מתבצעת עם סוגריים שם הטיפוס לפני הדבר שאותו ממירים</a:t>
            </a:r>
          </a:p>
          <a:p>
            <a:r>
              <a:rPr lang="he-IL" dirty="0"/>
              <a:t>מ-</a:t>
            </a:r>
            <a:r>
              <a:rPr lang="en-US" dirty="0"/>
              <a:t>double</a:t>
            </a:r>
            <a:r>
              <a:rPr lang="he-IL" dirty="0"/>
              <a:t> ל-</a:t>
            </a:r>
            <a:r>
              <a:rPr lang="en-US" dirty="0"/>
              <a:t>int</a:t>
            </a:r>
            <a:r>
              <a:rPr lang="he-IL" dirty="0"/>
              <a:t> כן צריך לציין בפירוש</a:t>
            </a:r>
          </a:p>
          <a:p>
            <a:endParaRPr lang="he-IL" dirty="0"/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E7A62505-5978-EC64-3407-CB99B36AB01F}"/>
              </a:ext>
            </a:extLst>
          </p:cNvPr>
          <p:cNvSpPr/>
          <p:nvPr/>
        </p:nvSpPr>
        <p:spPr>
          <a:xfrm>
            <a:off x="3413091" y="5395042"/>
            <a:ext cx="1065126" cy="321547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4F9CE67D-61C4-57F2-4B1C-885F66F87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350" y="3266012"/>
            <a:ext cx="5925377" cy="3219899"/>
          </a:xfrm>
          <a:prstGeom prst="rect">
            <a:avLst/>
          </a:prstGeom>
        </p:spPr>
      </p:pic>
      <p:sp>
        <p:nvSpPr>
          <p:cNvPr id="8" name="מלבן 7">
            <a:extLst>
              <a:ext uri="{FF2B5EF4-FFF2-40B4-BE49-F238E27FC236}">
                <a16:creationId xmlns:a16="http://schemas.microsoft.com/office/drawing/2014/main" id="{981D5FFA-1DD4-1B59-ECC4-C038C3C24B42}"/>
              </a:ext>
            </a:extLst>
          </p:cNvPr>
          <p:cNvSpPr/>
          <p:nvPr/>
        </p:nvSpPr>
        <p:spPr>
          <a:xfrm>
            <a:off x="3113315" y="5584115"/>
            <a:ext cx="705059" cy="321547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דיו 9">
                <a:extLst>
                  <a:ext uri="{FF2B5EF4-FFF2-40B4-BE49-F238E27FC236}">
                    <a16:creationId xmlns:a16="http://schemas.microsoft.com/office/drawing/2014/main" id="{D98F49B2-BA36-9989-1A4E-3CE1AF72266F}"/>
                  </a:ext>
                </a:extLst>
              </p14:cNvPr>
              <p14:cNvContentPartPr/>
              <p14:nvPr/>
            </p14:nvContentPartPr>
            <p14:xfrm>
              <a:off x="2612085" y="5883563"/>
              <a:ext cx="1446480" cy="196560"/>
            </p14:xfrm>
          </p:contentPart>
        </mc:Choice>
        <mc:Fallback xmlns="">
          <p:pic>
            <p:nvPicPr>
              <p:cNvPr id="10" name="דיו 9">
                <a:extLst>
                  <a:ext uri="{FF2B5EF4-FFF2-40B4-BE49-F238E27FC236}">
                    <a16:creationId xmlns:a16="http://schemas.microsoft.com/office/drawing/2014/main" id="{D98F49B2-BA36-9989-1A4E-3CE1AF72266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03085" y="5874923"/>
                <a:ext cx="1464120" cy="21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3110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FDA4877-3B25-2A6B-1573-F662E15AC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 err="1"/>
              <a:t>קאסטינג</a:t>
            </a:r>
            <a:endParaRPr lang="he-IL" dirty="0"/>
          </a:p>
        </p:txBody>
      </p:sp>
      <p:pic>
        <p:nvPicPr>
          <p:cNvPr id="5" name="מציין מיקום תוכן 4">
            <a:extLst>
              <a:ext uri="{FF2B5EF4-FFF2-40B4-BE49-F238E27FC236}">
                <a16:creationId xmlns:a16="http://schemas.microsoft.com/office/drawing/2014/main" id="{0B47261B-6BF0-0D71-9E29-CE3951DB32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1700" y="1270000"/>
            <a:ext cx="6667936" cy="5415878"/>
          </a:xfrm>
        </p:spPr>
      </p:pic>
    </p:spTree>
    <p:extLst>
      <p:ext uri="{BB962C8B-B14F-4D97-AF65-F5344CB8AC3E}">
        <p14:creationId xmlns:p14="http://schemas.microsoft.com/office/powerpoint/2010/main" val="16929426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FDA4877-3B25-2A6B-1573-F662E15AC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אריתמטיקה – חלוקה </a:t>
            </a:r>
            <a:r>
              <a:rPr lang="he-IL" dirty="0" err="1"/>
              <a:t>ומודולו</a:t>
            </a:r>
            <a:endParaRPr lang="he-IL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02D3A94D-F62B-A797-2821-1701673A3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835" y="2160589"/>
            <a:ext cx="6058746" cy="340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2881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FDA4877-3B25-2A6B-1573-F662E15AC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אריתמטיקה – חלוקה </a:t>
            </a:r>
            <a:r>
              <a:rPr lang="he-IL" dirty="0" err="1"/>
              <a:t>ומודולו</a:t>
            </a:r>
            <a:endParaRPr lang="he-IL" dirty="0"/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988DD0D9-01D1-EF5E-6186-BC0CEA118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063" y="1334904"/>
            <a:ext cx="7449178" cy="4913496"/>
          </a:xfrm>
          <a:prstGeom prst="rect">
            <a:avLst/>
          </a:prstGeom>
        </p:spPr>
      </p:pic>
      <p:sp>
        <p:nvSpPr>
          <p:cNvPr id="3" name="מלבן 2">
            <a:extLst>
              <a:ext uri="{FF2B5EF4-FFF2-40B4-BE49-F238E27FC236}">
                <a16:creationId xmlns:a16="http://schemas.microsoft.com/office/drawing/2014/main" id="{5F34A657-7253-3678-8DCD-AEB62D1C898E}"/>
              </a:ext>
            </a:extLst>
          </p:cNvPr>
          <p:cNvSpPr/>
          <p:nvPr/>
        </p:nvSpPr>
        <p:spPr>
          <a:xfrm>
            <a:off x="2029767" y="3074796"/>
            <a:ext cx="6279474" cy="934496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42F189E0-066B-B5C7-0095-C8906C5E1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078" y="3377357"/>
            <a:ext cx="2162477" cy="29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8870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C7C0841-80A3-A900-E29A-9EC3F9DFB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ג'אווה לדוברות פייתון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9487A37-99C9-5982-E9BA-2BC206BE6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611" y="2140493"/>
            <a:ext cx="8596668" cy="3880773"/>
          </a:xfrm>
        </p:spPr>
        <p:txBody>
          <a:bodyPr/>
          <a:lstStyle/>
          <a:p>
            <a:r>
              <a:rPr lang="he-IL" dirty="0" err="1"/>
              <a:t>בפייתון</a:t>
            </a:r>
            <a:r>
              <a:rPr lang="he-IL" dirty="0"/>
              <a:t>, מספר שלם / מספר שלם = מספר עשרוני</a:t>
            </a:r>
            <a:endParaRPr lang="he-IL" u="sng" dirty="0"/>
          </a:p>
          <a:p>
            <a:pPr marL="914400" lvl="2" indent="0">
              <a:buNone/>
            </a:pPr>
            <a:endParaRPr lang="he-IL" dirty="0"/>
          </a:p>
        </p:txBody>
      </p:sp>
      <p:pic>
        <p:nvPicPr>
          <p:cNvPr id="1026" name="Picture 2" descr="The Python Logo | Python Software Foundation">
            <a:extLst>
              <a:ext uri="{FF2B5EF4-FFF2-40B4-BE49-F238E27FC236}">
                <a16:creationId xmlns:a16="http://schemas.microsoft.com/office/drawing/2014/main" id="{23AE022D-D6CF-D134-F0D0-CBAEB9FA7C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485"/>
          <a:stretch/>
        </p:blipFill>
        <p:spPr bwMode="auto">
          <a:xfrm>
            <a:off x="4225446" y="572312"/>
            <a:ext cx="947668" cy="982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8509CD71-1BE4-0728-C004-BDFA284EA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6837" y="3639684"/>
            <a:ext cx="3553321" cy="2381582"/>
          </a:xfrm>
          <a:prstGeom prst="rect">
            <a:avLst/>
          </a:prstGeom>
        </p:spPr>
      </p:pic>
      <p:pic>
        <p:nvPicPr>
          <p:cNvPr id="10" name="Picture 2" descr="The Python Logo | Python Software Foundation">
            <a:extLst>
              <a:ext uri="{FF2B5EF4-FFF2-40B4-BE49-F238E27FC236}">
                <a16:creationId xmlns:a16="http://schemas.microsoft.com/office/drawing/2014/main" id="{A5DF0CA9-D5D5-5BC6-FC4B-04910F7124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485"/>
          <a:stretch/>
        </p:blipFill>
        <p:spPr bwMode="auto">
          <a:xfrm>
            <a:off x="6899012" y="3309766"/>
            <a:ext cx="882323" cy="914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46711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FE981DB9-E638-2F86-EE44-0EACB7209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8184" y="3073630"/>
            <a:ext cx="2486372" cy="2372056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0C7C0841-80A3-A900-E29A-9EC3F9DFB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ג'אווה לדוברות פייתון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9487A37-99C9-5982-E9BA-2BC206BE6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611" y="2140493"/>
            <a:ext cx="8596668" cy="3880773"/>
          </a:xfrm>
        </p:spPr>
        <p:txBody>
          <a:bodyPr>
            <a:normAutofit lnSpcReduction="10000"/>
          </a:bodyPr>
          <a:lstStyle/>
          <a:p>
            <a:r>
              <a:rPr lang="he-IL" dirty="0"/>
              <a:t>אם ננסה טיפוסיות חזקה כמו שראינו קודם:</a:t>
            </a:r>
          </a:p>
          <a:p>
            <a:endParaRPr lang="he-IL" u="sng" dirty="0"/>
          </a:p>
          <a:p>
            <a:endParaRPr lang="he-IL" u="sng" dirty="0"/>
          </a:p>
          <a:p>
            <a:endParaRPr lang="he-IL" u="sng" dirty="0"/>
          </a:p>
          <a:p>
            <a:endParaRPr lang="he-IL" u="sng" dirty="0"/>
          </a:p>
          <a:p>
            <a:endParaRPr lang="he-IL" u="sng" dirty="0"/>
          </a:p>
          <a:p>
            <a:endParaRPr lang="he-IL" u="sng" dirty="0"/>
          </a:p>
          <a:p>
            <a:endParaRPr lang="he-IL" u="sng" dirty="0"/>
          </a:p>
          <a:p>
            <a:endParaRPr lang="he-IL" u="sng" dirty="0"/>
          </a:p>
          <a:p>
            <a:r>
              <a:rPr lang="he-IL" dirty="0"/>
              <a:t>נקבל </a:t>
            </a:r>
            <a:r>
              <a:rPr lang="he-IL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אזהרות</a:t>
            </a:r>
            <a:r>
              <a:rPr lang="he-IL" dirty="0"/>
              <a:t>, אבל הקוד עדיין ירוץ, ותתקבל אותה תוצאה (5.0,  3.33333)</a:t>
            </a:r>
          </a:p>
          <a:p>
            <a:pPr marL="914400" lvl="2" indent="0">
              <a:buNone/>
            </a:pPr>
            <a:endParaRPr lang="he-IL" dirty="0"/>
          </a:p>
        </p:txBody>
      </p:sp>
      <p:pic>
        <p:nvPicPr>
          <p:cNvPr id="1026" name="Picture 2" descr="The Python Logo | Python Software Foundation">
            <a:extLst>
              <a:ext uri="{FF2B5EF4-FFF2-40B4-BE49-F238E27FC236}">
                <a16:creationId xmlns:a16="http://schemas.microsoft.com/office/drawing/2014/main" id="{23AE022D-D6CF-D134-F0D0-CBAEB9FA7C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485"/>
          <a:stretch/>
        </p:blipFill>
        <p:spPr bwMode="auto">
          <a:xfrm>
            <a:off x="4225446" y="572312"/>
            <a:ext cx="947668" cy="982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The Python Logo | Python Software Foundation">
            <a:extLst>
              <a:ext uri="{FF2B5EF4-FFF2-40B4-BE49-F238E27FC236}">
                <a16:creationId xmlns:a16="http://schemas.microsoft.com/office/drawing/2014/main" id="{A5DF0CA9-D5D5-5BC6-FC4B-04910F7124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485"/>
          <a:stretch/>
        </p:blipFill>
        <p:spPr bwMode="auto">
          <a:xfrm>
            <a:off x="6989447" y="2616430"/>
            <a:ext cx="882323" cy="914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מחבר ישר 6">
            <a:extLst>
              <a:ext uri="{FF2B5EF4-FFF2-40B4-BE49-F238E27FC236}">
                <a16:creationId xmlns:a16="http://schemas.microsoft.com/office/drawing/2014/main" id="{378662B6-F4BD-DB2B-686C-AE0BA4E8D3A6}"/>
              </a:ext>
            </a:extLst>
          </p:cNvPr>
          <p:cNvCxnSpPr>
            <a:cxnSpLocks/>
          </p:cNvCxnSpPr>
          <p:nvPr/>
        </p:nvCxnSpPr>
        <p:spPr>
          <a:xfrm>
            <a:off x="5263549" y="5108507"/>
            <a:ext cx="1996238" cy="0"/>
          </a:xfrm>
          <a:prstGeom prst="line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מחבר ישר 8">
            <a:extLst>
              <a:ext uri="{FF2B5EF4-FFF2-40B4-BE49-F238E27FC236}">
                <a16:creationId xmlns:a16="http://schemas.microsoft.com/office/drawing/2014/main" id="{A73ACE9D-4A56-2C79-0725-D80DC9FB9598}"/>
              </a:ext>
            </a:extLst>
          </p:cNvPr>
          <p:cNvCxnSpPr>
            <a:cxnSpLocks/>
          </p:cNvCxnSpPr>
          <p:nvPr/>
        </p:nvCxnSpPr>
        <p:spPr>
          <a:xfrm>
            <a:off x="5263549" y="5411740"/>
            <a:ext cx="1996238" cy="0"/>
          </a:xfrm>
          <a:prstGeom prst="line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28262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תמונה 14">
            <a:extLst>
              <a:ext uri="{FF2B5EF4-FFF2-40B4-BE49-F238E27FC236}">
                <a16:creationId xmlns:a16="http://schemas.microsoft.com/office/drawing/2014/main" id="{5315E0AB-35D4-A7E8-7968-42709B429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5075" y="3165825"/>
            <a:ext cx="2823586" cy="2616729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86E0BE3E-AFFC-3D87-961D-E03F038AD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061" y="3154017"/>
            <a:ext cx="3191320" cy="2305372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0C7C0841-80A3-A900-E29A-9EC3F9DFB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ג'אווה לדוברות פייתון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9487A37-99C9-5982-E9BA-2BC206BE6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611" y="2140493"/>
            <a:ext cx="8596668" cy="3880773"/>
          </a:xfrm>
        </p:spPr>
        <p:txBody>
          <a:bodyPr>
            <a:normAutofit/>
          </a:bodyPr>
          <a:lstStyle/>
          <a:p>
            <a:r>
              <a:rPr lang="he-IL" dirty="0"/>
              <a:t>אם רוצים </a:t>
            </a:r>
            <a:r>
              <a:rPr lang="he-IL" dirty="0" err="1"/>
              <a:t>בפייתון</a:t>
            </a:r>
            <a:r>
              <a:rPr lang="he-IL" dirty="0"/>
              <a:t> לחלק שלם בשלם ולקבל שלם:</a:t>
            </a:r>
          </a:p>
        </p:txBody>
      </p:sp>
      <p:pic>
        <p:nvPicPr>
          <p:cNvPr id="1026" name="Picture 2" descr="The Python Logo | Python Software Foundation">
            <a:extLst>
              <a:ext uri="{FF2B5EF4-FFF2-40B4-BE49-F238E27FC236}">
                <a16:creationId xmlns:a16="http://schemas.microsoft.com/office/drawing/2014/main" id="{23AE022D-D6CF-D134-F0D0-CBAEB9FA7C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485"/>
          <a:stretch/>
        </p:blipFill>
        <p:spPr bwMode="auto">
          <a:xfrm>
            <a:off x="4225446" y="572312"/>
            <a:ext cx="947668" cy="982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The Python Logo | Python Software Foundation">
            <a:extLst>
              <a:ext uri="{FF2B5EF4-FFF2-40B4-BE49-F238E27FC236}">
                <a16:creationId xmlns:a16="http://schemas.microsoft.com/office/drawing/2014/main" id="{A5DF0CA9-D5D5-5BC6-FC4B-04910F7124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485"/>
          <a:stretch/>
        </p:blipFill>
        <p:spPr bwMode="auto">
          <a:xfrm>
            <a:off x="3912555" y="2696817"/>
            <a:ext cx="882323" cy="914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65126D0B-8520-D417-F887-779E7C5BCA1C}"/>
              </a:ext>
            </a:extLst>
          </p:cNvPr>
          <p:cNvSpPr txBox="1"/>
          <p:nvPr/>
        </p:nvSpPr>
        <p:spPr>
          <a:xfrm>
            <a:off x="1587640" y="5459389"/>
            <a:ext cx="2823586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dirty="0"/>
              <a:t>זהו </a:t>
            </a:r>
            <a:r>
              <a:rPr lang="he-IL" dirty="0" err="1"/>
              <a:t>קאסטינג</a:t>
            </a:r>
            <a:r>
              <a:rPr lang="he-IL" dirty="0"/>
              <a:t>, כמו שראינו בג'אווה</a:t>
            </a:r>
          </a:p>
        </p:txBody>
      </p:sp>
      <p:pic>
        <p:nvPicPr>
          <p:cNvPr id="12" name="Picture 2" descr="The Python Logo | Python Software Foundation">
            <a:extLst>
              <a:ext uri="{FF2B5EF4-FFF2-40B4-BE49-F238E27FC236}">
                <a16:creationId xmlns:a16="http://schemas.microsoft.com/office/drawing/2014/main" id="{F0F264A2-775B-66B4-38A3-21DDB8493A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485"/>
          <a:stretch/>
        </p:blipFill>
        <p:spPr bwMode="auto">
          <a:xfrm>
            <a:off x="8501204" y="2696817"/>
            <a:ext cx="882323" cy="914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תיבת טקסט 15">
            <a:extLst>
              <a:ext uri="{FF2B5EF4-FFF2-40B4-BE49-F238E27FC236}">
                <a16:creationId xmlns:a16="http://schemas.microsoft.com/office/drawing/2014/main" id="{DEAC21AB-8D7A-D6DB-D006-0464E031C7C7}"/>
              </a:ext>
            </a:extLst>
          </p:cNvPr>
          <p:cNvSpPr txBox="1"/>
          <p:nvPr/>
        </p:nvSpPr>
        <p:spPr>
          <a:xfrm>
            <a:off x="6229979" y="5843943"/>
            <a:ext cx="2823586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dirty="0"/>
              <a:t>האופרטור // נקרא </a:t>
            </a:r>
            <a:r>
              <a:rPr lang="he-IL" dirty="0" err="1"/>
              <a:t>בפייתון</a:t>
            </a:r>
            <a:r>
              <a:rPr lang="he-IL" dirty="0"/>
              <a:t> </a:t>
            </a:r>
            <a:r>
              <a:rPr lang="en-US" dirty="0" err="1"/>
              <a:t>floordiv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406027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תמונה 18">
            <a:extLst>
              <a:ext uri="{FF2B5EF4-FFF2-40B4-BE49-F238E27FC236}">
                <a16:creationId xmlns:a16="http://schemas.microsoft.com/office/drawing/2014/main" id="{E62C22D7-7D8E-90B4-7409-1592533BA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25" y="1557495"/>
            <a:ext cx="6323085" cy="4803112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8FDA4877-3B25-2A6B-1573-F662E15AC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קלט עם </a:t>
            </a:r>
            <a:r>
              <a:rPr lang="he-IL" dirty="0" err="1"/>
              <a:t>סקאנר</a:t>
            </a:r>
            <a:endParaRPr lang="he-IL" dirty="0"/>
          </a:p>
        </p:txBody>
      </p:sp>
      <p:cxnSp>
        <p:nvCxnSpPr>
          <p:cNvPr id="8" name="מחבר: מרפקי 7">
            <a:extLst>
              <a:ext uri="{FF2B5EF4-FFF2-40B4-BE49-F238E27FC236}">
                <a16:creationId xmlns:a16="http://schemas.microsoft.com/office/drawing/2014/main" id="{B1B45232-F250-EDDA-05EE-2CDE395C416A}"/>
              </a:ext>
            </a:extLst>
          </p:cNvPr>
          <p:cNvCxnSpPr>
            <a:cxnSpLocks/>
            <a:stCxn id="9" idx="1"/>
          </p:cNvCxnSpPr>
          <p:nvPr/>
        </p:nvCxnSpPr>
        <p:spPr>
          <a:xfrm rot="10800000">
            <a:off x="2863785" y="4404244"/>
            <a:ext cx="5256417" cy="2"/>
          </a:xfrm>
          <a:prstGeom prst="bentConnector3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19DF4157-C109-0307-E21B-CC6ADB06EA9A}"/>
              </a:ext>
            </a:extLst>
          </p:cNvPr>
          <p:cNvSpPr txBox="1"/>
          <p:nvPr/>
        </p:nvSpPr>
        <p:spPr>
          <a:xfrm>
            <a:off x="8120201" y="4219580"/>
            <a:ext cx="2120201" cy="36933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הצהרה – טיפוס ושם</a:t>
            </a:r>
          </a:p>
        </p:txBody>
      </p:sp>
      <p:cxnSp>
        <p:nvCxnSpPr>
          <p:cNvPr id="10" name="מחבר: מרפקי 9">
            <a:extLst>
              <a:ext uri="{FF2B5EF4-FFF2-40B4-BE49-F238E27FC236}">
                <a16:creationId xmlns:a16="http://schemas.microsoft.com/office/drawing/2014/main" id="{B89C4AEB-F343-1679-5EC3-1D75BD8AD033}"/>
              </a:ext>
            </a:extLst>
          </p:cNvPr>
          <p:cNvCxnSpPr>
            <a:cxnSpLocks/>
            <a:stCxn id="11" idx="2"/>
          </p:cNvCxnSpPr>
          <p:nvPr/>
        </p:nvCxnSpPr>
        <p:spPr>
          <a:xfrm rot="5400000" flipH="1">
            <a:off x="7008010" y="2906661"/>
            <a:ext cx="369330" cy="3975254"/>
          </a:xfrm>
          <a:prstGeom prst="bentConnector4">
            <a:avLst>
              <a:gd name="adj1" fmla="val -94544"/>
              <a:gd name="adj2" fmla="val 63334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32EEA774-A862-E686-1ED3-0465C2EE5906}"/>
              </a:ext>
            </a:extLst>
          </p:cNvPr>
          <p:cNvSpPr txBox="1"/>
          <p:nvPr/>
        </p:nvSpPr>
        <p:spPr>
          <a:xfrm>
            <a:off x="8120201" y="4709621"/>
            <a:ext cx="2120201" cy="36933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dirty="0"/>
              <a:t>השמה – שם ואז ערך</a:t>
            </a:r>
          </a:p>
        </p:txBody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CBBB0ED5-00CA-DF0D-02F0-2943B65EDBB9}"/>
              </a:ext>
            </a:extLst>
          </p:cNvPr>
          <p:cNvSpPr/>
          <p:nvPr/>
        </p:nvSpPr>
        <p:spPr>
          <a:xfrm>
            <a:off x="1187423" y="4850597"/>
            <a:ext cx="4451422" cy="899816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4" name="מלבן 23">
            <a:extLst>
              <a:ext uri="{FF2B5EF4-FFF2-40B4-BE49-F238E27FC236}">
                <a16:creationId xmlns:a16="http://schemas.microsoft.com/office/drawing/2014/main" id="{1EA68F5A-E043-0593-D44C-8427E87509C2}"/>
              </a:ext>
            </a:extLst>
          </p:cNvPr>
          <p:cNvSpPr/>
          <p:nvPr/>
        </p:nvSpPr>
        <p:spPr>
          <a:xfrm>
            <a:off x="6380704" y="1557495"/>
            <a:ext cx="4381081" cy="22157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dirty="0"/>
              <a:t> Scanner </a:t>
            </a:r>
            <a:r>
              <a:rPr lang="he-IL" dirty="0"/>
              <a:t>הוא טיפוס מיוחד המאפשר לנו קלט מהמשתמש.</a:t>
            </a:r>
          </a:p>
          <a:p>
            <a:pPr algn="ctr" rtl="1"/>
            <a:endParaRPr lang="he-IL" dirty="0"/>
          </a:p>
          <a:p>
            <a:pPr algn="ctr" rtl="1"/>
            <a:r>
              <a:rPr lang="he-IL" dirty="0"/>
              <a:t>איך? זו </a:t>
            </a:r>
            <a:r>
              <a:rPr lang="he-IL" u="sng" dirty="0"/>
              <a:t>קופסה שחורה</a:t>
            </a:r>
            <a:r>
              <a:rPr lang="he-IL" dirty="0"/>
              <a:t> מבחינתנו</a:t>
            </a:r>
          </a:p>
        </p:txBody>
      </p:sp>
    </p:spTree>
    <p:extLst>
      <p:ext uri="{BB962C8B-B14F-4D97-AF65-F5344CB8AC3E}">
        <p14:creationId xmlns:p14="http://schemas.microsoft.com/office/powerpoint/2010/main" val="7415019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תמונה 18">
            <a:extLst>
              <a:ext uri="{FF2B5EF4-FFF2-40B4-BE49-F238E27FC236}">
                <a16:creationId xmlns:a16="http://schemas.microsoft.com/office/drawing/2014/main" id="{E62C22D7-7D8E-90B4-7409-1592533BA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25" y="1557495"/>
            <a:ext cx="6323085" cy="4803112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8FDA4877-3B25-2A6B-1573-F662E15AC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קלט עם </a:t>
            </a:r>
            <a:r>
              <a:rPr lang="he-IL" dirty="0" err="1"/>
              <a:t>סקאנר</a:t>
            </a:r>
            <a:endParaRPr lang="he-IL" dirty="0"/>
          </a:p>
        </p:txBody>
      </p:sp>
      <p:cxnSp>
        <p:nvCxnSpPr>
          <p:cNvPr id="10" name="מחבר: מרפקי 9">
            <a:extLst>
              <a:ext uri="{FF2B5EF4-FFF2-40B4-BE49-F238E27FC236}">
                <a16:creationId xmlns:a16="http://schemas.microsoft.com/office/drawing/2014/main" id="{B89C4AEB-F343-1679-5EC3-1D75BD8AD033}"/>
              </a:ext>
            </a:extLst>
          </p:cNvPr>
          <p:cNvCxnSpPr>
            <a:cxnSpLocks/>
            <a:stCxn id="11" idx="2"/>
          </p:cNvCxnSpPr>
          <p:nvPr/>
        </p:nvCxnSpPr>
        <p:spPr>
          <a:xfrm rot="5400000" flipH="1">
            <a:off x="6592518" y="3322167"/>
            <a:ext cx="1200313" cy="3975254"/>
          </a:xfrm>
          <a:prstGeom prst="bentConnector4">
            <a:avLst>
              <a:gd name="adj1" fmla="val -19045"/>
              <a:gd name="adj2" fmla="val 63334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32EEA774-A862-E686-1ED3-0465C2EE5906}"/>
              </a:ext>
            </a:extLst>
          </p:cNvPr>
          <p:cNvSpPr txBox="1"/>
          <p:nvPr/>
        </p:nvSpPr>
        <p:spPr>
          <a:xfrm>
            <a:off x="8120201" y="4709621"/>
            <a:ext cx="2120201" cy="1200329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1">
            <a:spAutoFit/>
          </a:bodyPr>
          <a:lstStyle/>
          <a:p>
            <a:pPr algn="ctr" rtl="1"/>
            <a:r>
              <a:rPr lang="he-IL" dirty="0"/>
              <a:t>כרגע את הטקסט הזה ניקח בלי הסבר. נבין אותו יותר טוב כשנגיע ל-</a:t>
            </a:r>
            <a:r>
              <a:rPr lang="en-US" dirty="0"/>
              <a:t>OOP</a:t>
            </a:r>
            <a:endParaRPr lang="he-IL" dirty="0"/>
          </a:p>
        </p:txBody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CBBB0ED5-00CA-DF0D-02F0-2943B65EDBB9}"/>
              </a:ext>
            </a:extLst>
          </p:cNvPr>
          <p:cNvSpPr/>
          <p:nvPr/>
        </p:nvSpPr>
        <p:spPr>
          <a:xfrm>
            <a:off x="1187423" y="4850597"/>
            <a:ext cx="4451422" cy="899816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4" name="מלבן 23">
            <a:extLst>
              <a:ext uri="{FF2B5EF4-FFF2-40B4-BE49-F238E27FC236}">
                <a16:creationId xmlns:a16="http://schemas.microsoft.com/office/drawing/2014/main" id="{1EA68F5A-E043-0593-D44C-8427E87509C2}"/>
              </a:ext>
            </a:extLst>
          </p:cNvPr>
          <p:cNvSpPr/>
          <p:nvPr/>
        </p:nvSpPr>
        <p:spPr>
          <a:xfrm>
            <a:off x="6330462" y="1557495"/>
            <a:ext cx="4381081" cy="22157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en-US" dirty="0"/>
              <a:t> Scanner </a:t>
            </a:r>
            <a:r>
              <a:rPr lang="he-IL" dirty="0"/>
              <a:t>הוא טיפוס מיוחד המאפשר לנו קלט מהמשתמש.</a:t>
            </a:r>
          </a:p>
          <a:p>
            <a:pPr algn="ctr" rtl="1"/>
            <a:endParaRPr lang="he-IL" dirty="0"/>
          </a:p>
          <a:p>
            <a:pPr algn="ctr" rtl="1"/>
            <a:r>
              <a:rPr lang="he-IL" dirty="0"/>
              <a:t>איך? זו </a:t>
            </a:r>
            <a:r>
              <a:rPr lang="he-IL" u="sng" dirty="0"/>
              <a:t>קופסה שחורה</a:t>
            </a:r>
            <a:r>
              <a:rPr lang="he-IL" dirty="0"/>
              <a:t> מבחינתנו</a:t>
            </a:r>
          </a:p>
        </p:txBody>
      </p:sp>
      <p:sp>
        <p:nvSpPr>
          <p:cNvPr id="25" name="מלבן 24">
            <a:extLst>
              <a:ext uri="{FF2B5EF4-FFF2-40B4-BE49-F238E27FC236}">
                <a16:creationId xmlns:a16="http://schemas.microsoft.com/office/drawing/2014/main" id="{926FF621-4356-C710-5548-CAEB30C4B634}"/>
              </a:ext>
            </a:extLst>
          </p:cNvPr>
          <p:cNvSpPr/>
          <p:nvPr/>
        </p:nvSpPr>
        <p:spPr>
          <a:xfrm>
            <a:off x="1951598" y="4524679"/>
            <a:ext cx="3072578" cy="369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394650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תמונה 18">
            <a:extLst>
              <a:ext uri="{FF2B5EF4-FFF2-40B4-BE49-F238E27FC236}">
                <a16:creationId xmlns:a16="http://schemas.microsoft.com/office/drawing/2014/main" id="{E62C22D7-7D8E-90B4-7409-1592533BA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25" y="1557495"/>
            <a:ext cx="6323085" cy="4803112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8FDA4877-3B25-2A6B-1573-F662E15AC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קלט עם </a:t>
            </a:r>
            <a:r>
              <a:rPr lang="he-IL" dirty="0" err="1"/>
              <a:t>סקאנר</a:t>
            </a:r>
            <a:endParaRPr lang="he-IL" dirty="0"/>
          </a:p>
        </p:txBody>
      </p:sp>
      <p:cxnSp>
        <p:nvCxnSpPr>
          <p:cNvPr id="10" name="מחבר: מרפקי 9">
            <a:extLst>
              <a:ext uri="{FF2B5EF4-FFF2-40B4-BE49-F238E27FC236}">
                <a16:creationId xmlns:a16="http://schemas.microsoft.com/office/drawing/2014/main" id="{B89C4AEB-F343-1679-5EC3-1D75BD8AD033}"/>
              </a:ext>
            </a:extLst>
          </p:cNvPr>
          <p:cNvCxnSpPr>
            <a:cxnSpLocks/>
            <a:stCxn id="11" idx="1"/>
          </p:cNvCxnSpPr>
          <p:nvPr/>
        </p:nvCxnSpPr>
        <p:spPr>
          <a:xfrm rot="10800000" flipV="1">
            <a:off x="4160019" y="5171285"/>
            <a:ext cx="3960183" cy="129219"/>
          </a:xfrm>
          <a:prstGeom prst="bentConnector3">
            <a:avLst>
              <a:gd name="adj1" fmla="val 24119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32EEA774-A862-E686-1ED3-0465C2EE5906}"/>
              </a:ext>
            </a:extLst>
          </p:cNvPr>
          <p:cNvSpPr txBox="1"/>
          <p:nvPr/>
        </p:nvSpPr>
        <p:spPr>
          <a:xfrm>
            <a:off x="8120201" y="4709621"/>
            <a:ext cx="2120201" cy="92333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square" rtlCol="1">
            <a:spAutoFit/>
          </a:bodyPr>
          <a:lstStyle/>
          <a:p>
            <a:pPr algn="ctr" rtl="1"/>
            <a:r>
              <a:rPr lang="he-IL" dirty="0"/>
              <a:t>שימוש בפעולות של </a:t>
            </a:r>
            <a:r>
              <a:rPr lang="he-IL" dirty="0" err="1"/>
              <a:t>סקאנר</a:t>
            </a:r>
            <a:r>
              <a:rPr lang="he-IL" dirty="0"/>
              <a:t> כדי לבצע קלט</a:t>
            </a:r>
          </a:p>
        </p:txBody>
      </p:sp>
      <p:sp>
        <p:nvSpPr>
          <p:cNvPr id="24" name="מלבן 23">
            <a:extLst>
              <a:ext uri="{FF2B5EF4-FFF2-40B4-BE49-F238E27FC236}">
                <a16:creationId xmlns:a16="http://schemas.microsoft.com/office/drawing/2014/main" id="{1EA68F5A-E043-0593-D44C-8427E87509C2}"/>
              </a:ext>
            </a:extLst>
          </p:cNvPr>
          <p:cNvSpPr/>
          <p:nvPr/>
        </p:nvSpPr>
        <p:spPr>
          <a:xfrm>
            <a:off x="6330462" y="1557495"/>
            <a:ext cx="4381081" cy="22157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he-IL" dirty="0"/>
              <a:t>איך </a:t>
            </a:r>
            <a:r>
              <a:rPr lang="he-IL" dirty="0" err="1"/>
              <a:t>סקאנר</a:t>
            </a:r>
            <a:r>
              <a:rPr lang="he-IL" dirty="0"/>
              <a:t> עוזר לנו עם קלט? כי יש לו פעולות שנועדו לבצע קלט.</a:t>
            </a:r>
          </a:p>
        </p:txBody>
      </p:sp>
      <p:cxnSp>
        <p:nvCxnSpPr>
          <p:cNvPr id="4" name="מחבר: מרפקי 3">
            <a:extLst>
              <a:ext uri="{FF2B5EF4-FFF2-40B4-BE49-F238E27FC236}">
                <a16:creationId xmlns:a16="http://schemas.microsoft.com/office/drawing/2014/main" id="{8D1214C7-C5B0-C6AE-155D-DD746C3EC39C}"/>
              </a:ext>
            </a:extLst>
          </p:cNvPr>
          <p:cNvCxnSpPr>
            <a:cxnSpLocks/>
            <a:stCxn id="11" idx="2"/>
          </p:cNvCxnSpPr>
          <p:nvPr/>
        </p:nvCxnSpPr>
        <p:spPr>
          <a:xfrm rot="5400000" flipH="1">
            <a:off x="7086255" y="3538904"/>
            <a:ext cx="23080" cy="4165014"/>
          </a:xfrm>
          <a:prstGeom prst="bentConnector4">
            <a:avLst>
              <a:gd name="adj1" fmla="val -2035355"/>
              <a:gd name="adj2" fmla="val 68757"/>
            </a:avLst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21821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תמונה 18">
            <a:extLst>
              <a:ext uri="{FF2B5EF4-FFF2-40B4-BE49-F238E27FC236}">
                <a16:creationId xmlns:a16="http://schemas.microsoft.com/office/drawing/2014/main" id="{E62C22D7-7D8E-90B4-7409-1592533BA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25" y="1557495"/>
            <a:ext cx="6323085" cy="4803112"/>
          </a:xfrm>
          <a:prstGeom prst="rect">
            <a:avLst/>
          </a:pr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8FDA4877-3B25-2A6B-1573-F662E15AC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קלט עם </a:t>
            </a:r>
            <a:r>
              <a:rPr lang="he-IL" dirty="0" err="1"/>
              <a:t>סקאנר</a:t>
            </a:r>
            <a:endParaRPr lang="he-IL" dirty="0"/>
          </a:p>
        </p:txBody>
      </p:sp>
      <p:graphicFrame>
        <p:nvGraphicFramePr>
          <p:cNvPr id="3" name="טבלה 4">
            <a:extLst>
              <a:ext uri="{FF2B5EF4-FFF2-40B4-BE49-F238E27FC236}">
                <a16:creationId xmlns:a16="http://schemas.microsoft.com/office/drawing/2014/main" id="{389AF170-3EBB-9643-26BC-6A6C53E9D5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95214"/>
              </p:ext>
            </p:extLst>
          </p:nvPr>
        </p:nvGraphicFramePr>
        <p:xfrm>
          <a:off x="6815015" y="3436536"/>
          <a:ext cx="4268316" cy="2151092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422772">
                  <a:extLst>
                    <a:ext uri="{9D8B030D-6E8A-4147-A177-3AD203B41FA5}">
                      <a16:colId xmlns:a16="http://schemas.microsoft.com/office/drawing/2014/main" val="2515975422"/>
                    </a:ext>
                  </a:extLst>
                </a:gridCol>
                <a:gridCol w="1422772">
                  <a:extLst>
                    <a:ext uri="{9D8B030D-6E8A-4147-A177-3AD203B41FA5}">
                      <a16:colId xmlns:a16="http://schemas.microsoft.com/office/drawing/2014/main" val="416158825"/>
                    </a:ext>
                  </a:extLst>
                </a:gridCol>
                <a:gridCol w="1422772">
                  <a:extLst>
                    <a:ext uri="{9D8B030D-6E8A-4147-A177-3AD203B41FA5}">
                      <a16:colId xmlns:a16="http://schemas.microsoft.com/office/drawing/2014/main" val="2676275438"/>
                    </a:ext>
                  </a:extLst>
                </a:gridCol>
              </a:tblGrid>
              <a:tr h="537773">
                <a:tc>
                  <a:txBody>
                    <a:bodyPr/>
                    <a:lstStyle/>
                    <a:p>
                      <a:pPr algn="l" rtl="0"/>
                      <a:r>
                        <a:rPr lang="en-US" dirty="0"/>
                        <a:t>Value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dirty="0"/>
                        <a:t>Name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dirty="0"/>
                        <a:t>Type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6648376"/>
                  </a:ext>
                </a:extLst>
              </a:tr>
              <a:tr h="537773">
                <a:tc>
                  <a:txBody>
                    <a:bodyPr/>
                    <a:lstStyle/>
                    <a:p>
                      <a:pPr algn="l" rtl="0"/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dirty="0"/>
                        <a:t>s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dirty="0"/>
                        <a:t>Scanner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986840"/>
                  </a:ext>
                </a:extLst>
              </a:tr>
              <a:tr h="537773">
                <a:tc>
                  <a:txBody>
                    <a:bodyPr/>
                    <a:lstStyle/>
                    <a:p>
                      <a:pPr algn="l" rtl="0"/>
                      <a:r>
                        <a:rPr lang="en-US" dirty="0"/>
                        <a:t>5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dirty="0"/>
                        <a:t>x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dirty="0"/>
                        <a:t>int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4152041"/>
                  </a:ext>
                </a:extLst>
              </a:tr>
              <a:tr h="537773">
                <a:tc>
                  <a:txBody>
                    <a:bodyPr/>
                    <a:lstStyle/>
                    <a:p>
                      <a:pPr algn="l" rtl="0"/>
                      <a:r>
                        <a:rPr lang="en-US" dirty="0"/>
                        <a:t>4.3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dirty="0"/>
                        <a:t>y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dirty="0"/>
                        <a:t>double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17026"/>
                  </a:ext>
                </a:extLst>
              </a:tr>
            </a:tbl>
          </a:graphicData>
        </a:graphic>
      </p:graphicFrame>
      <p:sp>
        <p:nvSpPr>
          <p:cNvPr id="5" name="קוביה 4">
            <a:extLst>
              <a:ext uri="{FF2B5EF4-FFF2-40B4-BE49-F238E27FC236}">
                <a16:creationId xmlns:a16="http://schemas.microsoft.com/office/drawing/2014/main" id="{96CD0A8C-E01E-AA1E-2650-2CE3ED45209B}"/>
              </a:ext>
            </a:extLst>
          </p:cNvPr>
          <p:cNvSpPr/>
          <p:nvPr/>
        </p:nvSpPr>
        <p:spPr>
          <a:xfrm>
            <a:off x="6815015" y="1944357"/>
            <a:ext cx="2158163" cy="1320800"/>
          </a:xfrm>
          <a:prstGeom prst="cube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Scanner object</a:t>
            </a:r>
            <a:endParaRPr lang="he-IL" dirty="0"/>
          </a:p>
        </p:txBody>
      </p:sp>
      <p:cxnSp>
        <p:nvCxnSpPr>
          <p:cNvPr id="7" name="מחבר: מרפקי 6">
            <a:extLst>
              <a:ext uri="{FF2B5EF4-FFF2-40B4-BE49-F238E27FC236}">
                <a16:creationId xmlns:a16="http://schemas.microsoft.com/office/drawing/2014/main" id="{E5133C34-488D-88D8-8DA1-E63EBAD2D198}"/>
              </a:ext>
            </a:extLst>
          </p:cNvPr>
          <p:cNvCxnSpPr>
            <a:cxnSpLocks/>
            <a:endCxn id="5" idx="5"/>
          </p:cNvCxnSpPr>
          <p:nvPr/>
        </p:nvCxnSpPr>
        <p:spPr>
          <a:xfrm rot="16200000" flipV="1">
            <a:off x="8972133" y="2440703"/>
            <a:ext cx="1740457" cy="1738365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מלבן 5">
            <a:extLst>
              <a:ext uri="{FF2B5EF4-FFF2-40B4-BE49-F238E27FC236}">
                <a16:creationId xmlns:a16="http://schemas.microsoft.com/office/drawing/2014/main" id="{DCB18839-FC57-E45E-2823-D2EF09A77FE0}"/>
              </a:ext>
            </a:extLst>
          </p:cNvPr>
          <p:cNvSpPr/>
          <p:nvPr/>
        </p:nvSpPr>
        <p:spPr>
          <a:xfrm>
            <a:off x="6548809" y="5759938"/>
            <a:ext cx="5137423" cy="772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האם הציורים האלה הם חלק גדול מתכנות?</a:t>
            </a:r>
          </a:p>
        </p:txBody>
      </p:sp>
    </p:spTree>
    <p:extLst>
      <p:ext uri="{BB962C8B-B14F-4D97-AF65-F5344CB8AC3E}">
        <p14:creationId xmlns:p14="http://schemas.microsoft.com/office/powerpoint/2010/main" val="3682247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C7C0841-80A3-A900-E29A-9EC3F9DFB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3" y="157424"/>
            <a:ext cx="8596668" cy="1320800"/>
          </a:xfrm>
        </p:spPr>
        <p:txBody>
          <a:bodyPr/>
          <a:lstStyle/>
          <a:p>
            <a:pPr algn="r"/>
            <a:r>
              <a:rPr lang="he-IL" dirty="0"/>
              <a:t>ג'אווה לדוברות פייתון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9487A37-99C9-5982-E9BA-2BC206BE6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383" y="1139546"/>
            <a:ext cx="8596668" cy="4441177"/>
          </a:xfrm>
        </p:spPr>
        <p:txBody>
          <a:bodyPr>
            <a:normAutofit/>
          </a:bodyPr>
          <a:lstStyle/>
          <a:p>
            <a:r>
              <a:rPr lang="he-IL" dirty="0" err="1"/>
              <a:t>בפייתון</a:t>
            </a:r>
            <a:r>
              <a:rPr lang="he-IL" dirty="0"/>
              <a:t> יש לנו את הפונקציה </a:t>
            </a:r>
            <a:r>
              <a:rPr lang="en-US" dirty="0"/>
              <a:t>input()</a:t>
            </a:r>
            <a:r>
              <a:rPr lang="he-IL" dirty="0"/>
              <a:t> שמחזירה מחרוזת</a:t>
            </a:r>
          </a:p>
          <a:p>
            <a:endParaRPr lang="he-IL" dirty="0"/>
          </a:p>
          <a:p>
            <a:endParaRPr lang="he-IL" dirty="0"/>
          </a:p>
          <a:p>
            <a:endParaRPr lang="he-IL" dirty="0"/>
          </a:p>
          <a:p>
            <a:r>
              <a:rPr lang="he-IL" dirty="0"/>
              <a:t>אם רוצים לקלוט מספר שלם או עשרוני, צריך לבצע </a:t>
            </a:r>
            <a:r>
              <a:rPr lang="he-IL" dirty="0" err="1"/>
              <a:t>קאסטינג</a:t>
            </a:r>
            <a:r>
              <a:rPr lang="he-IL" dirty="0"/>
              <a:t>:</a:t>
            </a:r>
          </a:p>
          <a:p>
            <a:endParaRPr lang="he-IL" dirty="0"/>
          </a:p>
          <a:p>
            <a:endParaRPr lang="en-US" dirty="0"/>
          </a:p>
          <a:p>
            <a:endParaRPr lang="en-US" dirty="0"/>
          </a:p>
          <a:p>
            <a:endParaRPr lang="he-IL" dirty="0"/>
          </a:p>
          <a:p>
            <a:r>
              <a:rPr lang="he-IL" dirty="0"/>
              <a:t>בג'אווה, יש לנו שיטות נפרדות ב-</a:t>
            </a:r>
            <a:r>
              <a:rPr lang="en-US" dirty="0"/>
              <a:t>Scanner</a:t>
            </a:r>
            <a:r>
              <a:rPr lang="he-IL" dirty="0"/>
              <a:t> עבור </a:t>
            </a:r>
            <a:r>
              <a:rPr lang="en-US" dirty="0"/>
              <a:t>int</a:t>
            </a:r>
            <a:r>
              <a:rPr lang="he-IL" dirty="0"/>
              <a:t> ו-</a:t>
            </a:r>
            <a:r>
              <a:rPr lang="en-US" dirty="0"/>
              <a:t>double</a:t>
            </a:r>
            <a:r>
              <a:rPr lang="he-IL" dirty="0"/>
              <a:t>.</a:t>
            </a:r>
          </a:p>
          <a:p>
            <a:r>
              <a:rPr lang="he-IL" dirty="0"/>
              <a:t>כמו כן, בג'אווה, לא ניתן לעשות </a:t>
            </a:r>
            <a:r>
              <a:rPr lang="he-IL" dirty="0" err="1"/>
              <a:t>קאסטינג</a:t>
            </a:r>
            <a:r>
              <a:rPr lang="he-IL" dirty="0"/>
              <a:t> ממחרוזת למספר כמו שניתן בין מספרים:</a:t>
            </a:r>
          </a:p>
        </p:txBody>
      </p:sp>
      <p:pic>
        <p:nvPicPr>
          <p:cNvPr id="1026" name="Picture 2" descr="The Python Logo | Python Software Foundation">
            <a:extLst>
              <a:ext uri="{FF2B5EF4-FFF2-40B4-BE49-F238E27FC236}">
                <a16:creationId xmlns:a16="http://schemas.microsoft.com/office/drawing/2014/main" id="{23AE022D-D6CF-D134-F0D0-CBAEB9FA7C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485"/>
          <a:stretch/>
        </p:blipFill>
        <p:spPr bwMode="auto">
          <a:xfrm>
            <a:off x="4235495" y="120136"/>
            <a:ext cx="947668" cy="982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EB3C682B-E4F3-F1A7-6711-038559AB8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543" y="1627116"/>
            <a:ext cx="3505689" cy="914528"/>
          </a:xfrm>
          <a:prstGeom prst="rect">
            <a:avLst/>
          </a:prstGeom>
        </p:spPr>
      </p:pic>
      <p:pic>
        <p:nvPicPr>
          <p:cNvPr id="13" name="תמונה 12">
            <a:extLst>
              <a:ext uri="{FF2B5EF4-FFF2-40B4-BE49-F238E27FC236}">
                <a16:creationId xmlns:a16="http://schemas.microsoft.com/office/drawing/2014/main" id="{0A5746B5-B095-DFB7-98F4-550C7A0BBB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1651" y="3162981"/>
            <a:ext cx="4448796" cy="1476581"/>
          </a:xfrm>
          <a:prstGeom prst="rect">
            <a:avLst/>
          </a:prstGeom>
        </p:spPr>
      </p:pic>
      <p:pic>
        <p:nvPicPr>
          <p:cNvPr id="17" name="תמונה 16">
            <a:extLst>
              <a:ext uri="{FF2B5EF4-FFF2-40B4-BE49-F238E27FC236}">
                <a16:creationId xmlns:a16="http://schemas.microsoft.com/office/drawing/2014/main" id="{68BE6F69-3126-E9BC-909B-A373B5E6A6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0921" y="5579750"/>
            <a:ext cx="2924583" cy="943107"/>
          </a:xfrm>
          <a:prstGeom prst="rect">
            <a:avLst/>
          </a:prstGeom>
        </p:spPr>
      </p:pic>
      <p:cxnSp>
        <p:nvCxnSpPr>
          <p:cNvPr id="18" name="מחבר ישר 17">
            <a:extLst>
              <a:ext uri="{FF2B5EF4-FFF2-40B4-BE49-F238E27FC236}">
                <a16:creationId xmlns:a16="http://schemas.microsoft.com/office/drawing/2014/main" id="{8C9785F4-79B8-F8CC-F519-9F4E73643DD2}"/>
              </a:ext>
            </a:extLst>
          </p:cNvPr>
          <p:cNvCxnSpPr>
            <a:cxnSpLocks/>
          </p:cNvCxnSpPr>
          <p:nvPr/>
        </p:nvCxnSpPr>
        <p:spPr>
          <a:xfrm>
            <a:off x="4931954" y="6522857"/>
            <a:ext cx="127792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37890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1D4FD56-096E-0065-C022-57BF9E9EE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סיכום פרק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5118A3D-2E3B-E95C-0525-F70B0698E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עשינו הצהרת </a:t>
            </a:r>
            <a:r>
              <a:rPr lang="he-IL"/>
              <a:t>כוונות וצפירת הרגעה</a:t>
            </a:r>
            <a:endParaRPr lang="he-IL" dirty="0"/>
          </a:p>
          <a:p>
            <a:r>
              <a:rPr lang="he-IL" dirty="0"/>
              <a:t>ראינו איך לבצע פקודות פלט בעזרת </a:t>
            </a:r>
            <a:r>
              <a:rPr lang="en-US" dirty="0" err="1"/>
              <a:t>System.out.print</a:t>
            </a:r>
            <a:r>
              <a:rPr lang="en-US" dirty="0"/>
              <a:t>, </a:t>
            </a:r>
            <a:r>
              <a:rPr lang="en-US" dirty="0" err="1"/>
              <a:t>System.out.println</a:t>
            </a:r>
            <a:endParaRPr lang="he-IL" dirty="0"/>
          </a:p>
          <a:p>
            <a:r>
              <a:rPr lang="he-IL" dirty="0"/>
              <a:t>ראינו איך לכתוב הערות</a:t>
            </a:r>
          </a:p>
          <a:p>
            <a:r>
              <a:rPr lang="he-IL" dirty="0"/>
              <a:t>ראינו איך משתמשים במשתנים: הצהרה, השמה וקריאה</a:t>
            </a:r>
          </a:p>
          <a:p>
            <a:r>
              <a:rPr lang="he-IL" dirty="0"/>
              <a:t>ראינו טיפוסים מספריים של משתנים – </a:t>
            </a:r>
            <a:r>
              <a:rPr lang="en-US" dirty="0"/>
              <a:t>int, double</a:t>
            </a:r>
            <a:endParaRPr lang="he-IL" dirty="0"/>
          </a:p>
          <a:p>
            <a:r>
              <a:rPr lang="he-IL" dirty="0"/>
              <a:t>ראינו פעולות שאפשר לבצע עם משתנים ועם מידע מספרי – פעולות חשבון </a:t>
            </a:r>
            <a:r>
              <a:rPr lang="he-IL" dirty="0" err="1"/>
              <a:t>וקאסטינג</a:t>
            </a:r>
            <a:r>
              <a:rPr lang="he-IL" dirty="0"/>
              <a:t>. ראינו שב-</a:t>
            </a:r>
            <a:r>
              <a:rPr lang="en-US" dirty="0"/>
              <a:t>Java</a:t>
            </a:r>
            <a:r>
              <a:rPr lang="he-IL" dirty="0"/>
              <a:t>, שלם / שלם = שלם, וראינו גם את אופרטור השארית</a:t>
            </a:r>
          </a:p>
          <a:p>
            <a:r>
              <a:rPr lang="he-IL" dirty="0"/>
              <a:t>ראינו איך לבצע פקודות קלט בעזרת </a:t>
            </a:r>
            <a:r>
              <a:rPr lang="en-US" dirty="0"/>
              <a:t>Scanner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032573251"/>
      </p:ext>
    </p:extLst>
  </p:cSld>
  <p:clrMapOvr>
    <a:masterClrMapping/>
  </p:clrMapOvr>
</p:sld>
</file>

<file path=ppt/theme/theme1.xml><?xml version="1.0" encoding="utf-8"?>
<a:theme xmlns:a="http://schemas.openxmlformats.org/drawingml/2006/main" name="פיאה">
  <a:themeElements>
    <a:clrScheme name="פיאה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פיאה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פיאה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940</TotalTime>
  <Words>1299</Words>
  <Application>Microsoft Office PowerPoint</Application>
  <PresentationFormat>מסך רחב</PresentationFormat>
  <Paragraphs>213</Paragraphs>
  <Slides>42</Slides>
  <Notes>0</Notes>
  <HiddenSlides>0</HiddenSlides>
  <MMClips>1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42</vt:i4>
      </vt:variant>
    </vt:vector>
  </HeadingPairs>
  <TitlesOfParts>
    <vt:vector size="49" baseType="lpstr">
      <vt:lpstr>Arial</vt:lpstr>
      <vt:lpstr>Calibri</vt:lpstr>
      <vt:lpstr>David</vt:lpstr>
      <vt:lpstr>Guttman Vilna</vt:lpstr>
      <vt:lpstr>Trebuchet MS</vt:lpstr>
      <vt:lpstr>Wingdings 3</vt:lpstr>
      <vt:lpstr>פיאה</vt:lpstr>
      <vt:lpstr>תכנות ג'אווה לקבוצות FRC</vt:lpstr>
      <vt:lpstr>מהי תוכנה</vt:lpstr>
      <vt:lpstr>הרצה של תוכנית</vt:lpstr>
      <vt:lpstr>קומפילציה של תוכנית</vt:lpstr>
      <vt:lpstr>הטרמינל</vt:lpstr>
      <vt:lpstr>פלט</vt:lpstr>
      <vt:lpstr>פלט</vt:lpstr>
      <vt:lpstr>פלט</vt:lpstr>
      <vt:lpstr>פלט</vt:lpstr>
      <vt:lpstr>הערות (בשמות אחרים: קומנטים, comments, תגובות)</vt:lpstr>
      <vt:lpstr>סוגי הערות ב-Java</vt:lpstr>
      <vt:lpstr>משתנים</vt:lpstr>
      <vt:lpstr>טיפוסי משתנים</vt:lpstr>
      <vt:lpstr>הצהרה והשמה</vt:lpstr>
      <vt:lpstr>הצהרה והשמה</vt:lpstr>
      <vt:lpstr>הצהרה והשמה</vt:lpstr>
      <vt:lpstr>הצהרה והשמה</vt:lpstr>
      <vt:lpstr>הצהרה והשמה</vt:lpstr>
      <vt:lpstr>הצהרה והשמה</vt:lpstr>
      <vt:lpstr>הצהרה והשמה</vt:lpstr>
      <vt:lpstr>הצהרה והשמה</vt:lpstr>
      <vt:lpstr>משתנה int</vt:lpstr>
      <vt:lpstr>משתנה double</vt:lpstr>
      <vt:lpstr>ריצה של תוכנית עם משתנים</vt:lpstr>
      <vt:lpstr>ג'אווה לדוברות פייתון</vt:lpstr>
      <vt:lpstr>ג'אווה לדוברות פייתון</vt:lpstr>
      <vt:lpstr>אריתמטיקה</vt:lpstr>
      <vt:lpstr>קאסטינג</vt:lpstr>
      <vt:lpstr>קאסטינג</vt:lpstr>
      <vt:lpstr>קאסטינג</vt:lpstr>
      <vt:lpstr>קאסטינג</vt:lpstr>
      <vt:lpstr>אריתמטיקה – חלוקה ומודולו</vt:lpstr>
      <vt:lpstr>אריתמטיקה – חלוקה ומודולו</vt:lpstr>
      <vt:lpstr>ג'אווה לדוברות פייתון</vt:lpstr>
      <vt:lpstr>ג'אווה לדוברות פייתון</vt:lpstr>
      <vt:lpstr>ג'אווה לדוברות פייתון</vt:lpstr>
      <vt:lpstr>קלט עם סקאנר</vt:lpstr>
      <vt:lpstr>קלט עם סקאנר</vt:lpstr>
      <vt:lpstr>קלט עם סקאנר</vt:lpstr>
      <vt:lpstr>קלט עם סקאנר</vt:lpstr>
      <vt:lpstr>ג'אווה לדוברות פייתון</vt:lpstr>
      <vt:lpstr>סיכום פרק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תכנות ג'אווה לקבוצות FRC</dc:title>
  <dc:creator>Yuval Dolev</dc:creator>
  <cp:lastModifiedBy>Yuval Dolev</cp:lastModifiedBy>
  <cp:revision>92</cp:revision>
  <dcterms:created xsi:type="dcterms:W3CDTF">2022-08-16T17:06:13Z</dcterms:created>
  <dcterms:modified xsi:type="dcterms:W3CDTF">2023-12-14T17:03:13Z</dcterms:modified>
</cp:coreProperties>
</file>